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2400" y="-22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4200/" TargetMode="Externa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999" y="1588200"/>
            <a:ext cx="6120130" cy="5014193"/>
          </a:xfrm>
          <a:prstGeom prst="rect">
            <a:avLst/>
          </a:prstGeom>
          <a:solidFill>
            <a:srgbClr val="1A3A5B"/>
          </a:solidFill>
          <a:ln w="38100">
            <a:solidFill>
              <a:srgbClr val="F49E0A"/>
            </a:solidFill>
          </a:ln>
        </p:spPr>
        <p:txBody>
          <a:bodyPr vert="horz" wrap="square" lIns="0" tIns="2286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800"/>
              </a:spcBef>
            </a:pPr>
            <a:r>
              <a:rPr sz="3400" b="1" spc="-10" dirty="0">
                <a:solidFill>
                  <a:srgbClr val="FFFFFF"/>
                </a:solidFill>
                <a:latin typeface="Arial"/>
                <a:cs typeface="Arial"/>
              </a:rPr>
              <a:t>BookNest</a:t>
            </a:r>
            <a:endParaRPr sz="34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720"/>
              </a:spcBef>
            </a:pPr>
            <a:r>
              <a:rPr sz="1600" dirty="0">
                <a:solidFill>
                  <a:srgbClr val="DBE9FD"/>
                </a:solidFill>
                <a:latin typeface="Arial MT"/>
                <a:cs typeface="Arial MT"/>
              </a:rPr>
              <a:t>Full</a:t>
            </a:r>
            <a:r>
              <a:rPr sz="1600" spc="-20" dirty="0">
                <a:solidFill>
                  <a:srgbClr val="DBE9F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DBE9FD"/>
                </a:solidFill>
                <a:latin typeface="Arial MT"/>
                <a:cs typeface="Arial MT"/>
              </a:rPr>
              <a:t>Stack</a:t>
            </a:r>
            <a:r>
              <a:rPr sz="1600" spc="-20" dirty="0">
                <a:solidFill>
                  <a:srgbClr val="DBE9FD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DBE9FD"/>
                </a:solidFill>
                <a:latin typeface="Arial MT"/>
                <a:cs typeface="Arial MT"/>
              </a:rPr>
              <a:t>E-</a:t>
            </a:r>
            <a:r>
              <a:rPr sz="1600" dirty="0">
                <a:solidFill>
                  <a:srgbClr val="DBE9FD"/>
                </a:solidFill>
                <a:latin typeface="Arial MT"/>
                <a:cs typeface="Arial MT"/>
              </a:rPr>
              <a:t>Commerce</a:t>
            </a:r>
            <a:r>
              <a:rPr sz="1600" spc="-20" dirty="0">
                <a:solidFill>
                  <a:srgbClr val="DBE9F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DBE9FD"/>
                </a:solidFill>
                <a:latin typeface="Arial MT"/>
                <a:cs typeface="Arial MT"/>
              </a:rPr>
              <a:t>Bookstore</a:t>
            </a:r>
            <a:r>
              <a:rPr sz="1600" spc="-15" dirty="0">
                <a:solidFill>
                  <a:srgbClr val="DBE9FD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DBE9FD"/>
                </a:solidFill>
                <a:latin typeface="Arial MT"/>
                <a:cs typeface="Arial MT"/>
              </a:rPr>
              <a:t>Platform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6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100" i="1" dirty="0">
                <a:solidFill>
                  <a:srgbClr val="F49E0A"/>
                </a:solidFill>
                <a:latin typeface="Arial"/>
                <a:cs typeface="Arial"/>
              </a:rPr>
              <a:t>Discover.</a:t>
            </a:r>
            <a:r>
              <a:rPr sz="1100" i="1" spc="-40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49E0A"/>
                </a:solidFill>
                <a:latin typeface="Arial"/>
                <a:cs typeface="Arial"/>
              </a:rPr>
              <a:t>Read.</a:t>
            </a:r>
            <a:r>
              <a:rPr sz="1100" i="1" spc="-40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49E0A"/>
                </a:solidFill>
                <a:latin typeface="Arial"/>
                <a:cs typeface="Arial"/>
              </a:rPr>
              <a:t>Belong.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6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100" i="1" dirty="0">
                <a:solidFill>
                  <a:srgbClr val="F49E0A"/>
                </a:solidFill>
                <a:latin typeface="Arial"/>
                <a:cs typeface="Arial"/>
              </a:rPr>
              <a:t>Capgemini</a:t>
            </a:r>
            <a:r>
              <a:rPr sz="1100" i="1" spc="-25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49E0A"/>
                </a:solidFill>
                <a:latin typeface="Arial"/>
                <a:cs typeface="Arial"/>
              </a:rPr>
              <a:t>Sprint</a:t>
            </a:r>
            <a:r>
              <a:rPr sz="1100" i="1" spc="-25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49E0A"/>
                </a:solidFill>
                <a:latin typeface="Arial"/>
                <a:cs typeface="Arial"/>
              </a:rPr>
              <a:t>Review</a:t>
            </a:r>
            <a:r>
              <a:rPr sz="1100" i="1" spc="-25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49E0A"/>
                </a:solidFill>
                <a:latin typeface="Arial"/>
                <a:cs typeface="Arial"/>
              </a:rPr>
              <a:t>|</a:t>
            </a:r>
            <a:r>
              <a:rPr sz="1100" i="1" spc="-25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49E0A"/>
                </a:solidFill>
                <a:latin typeface="Arial"/>
                <a:cs typeface="Arial"/>
              </a:rPr>
              <a:t>May</a:t>
            </a:r>
            <a:r>
              <a:rPr sz="1100" i="1" spc="-25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F49E0A"/>
                </a:solidFill>
                <a:latin typeface="Arial"/>
                <a:cs typeface="Arial"/>
              </a:rPr>
              <a:t>2026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19999" y="7709799"/>
            <a:ext cx="6120130" cy="482600"/>
          </a:xfrm>
          <a:custGeom>
            <a:avLst/>
            <a:gdLst/>
            <a:ahLst/>
            <a:cxnLst/>
            <a:rect l="l" t="t" r="r" b="b"/>
            <a:pathLst>
              <a:path w="6120130" h="482600">
                <a:moveTo>
                  <a:pt x="6120000" y="0"/>
                </a:moveTo>
                <a:lnTo>
                  <a:pt x="50800" y="0"/>
                </a:lnTo>
                <a:lnTo>
                  <a:pt x="31015" y="3988"/>
                </a:lnTo>
                <a:lnTo>
                  <a:pt x="14869" y="14869"/>
                </a:lnTo>
                <a:lnTo>
                  <a:pt x="3988" y="31015"/>
                </a:lnTo>
                <a:lnTo>
                  <a:pt x="0" y="50799"/>
                </a:lnTo>
                <a:lnTo>
                  <a:pt x="0" y="482599"/>
                </a:lnTo>
                <a:lnTo>
                  <a:pt x="6120000" y="482599"/>
                </a:lnTo>
                <a:lnTo>
                  <a:pt x="6120000" y="0"/>
                </a:lnTo>
                <a:close/>
              </a:path>
            </a:pathLst>
          </a:custGeom>
          <a:solidFill>
            <a:srgbClr val="DBE9F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35968"/>
              </p:ext>
            </p:extLst>
          </p:nvPr>
        </p:nvGraphicFramePr>
        <p:xfrm>
          <a:off x="709315" y="7175501"/>
          <a:ext cx="6118859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9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98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8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72110" marR="160020" indent="-205104">
                        <a:lnSpc>
                          <a:spcPct val="113999"/>
                        </a:lnSpc>
                        <a:spcBef>
                          <a:spcPts val="380"/>
                        </a:spcBef>
                      </a:pPr>
                      <a:r>
                        <a:rPr sz="950" b="1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Java </a:t>
                      </a:r>
                      <a:r>
                        <a:rPr sz="95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Spring </a:t>
                      </a:r>
                      <a:r>
                        <a:rPr sz="950" b="1" spc="-2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Boot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28575">
                      <a:solidFill>
                        <a:srgbClr val="2462EB"/>
                      </a:solidFill>
                      <a:prstDash val="solid"/>
                    </a:lnL>
                    <a:lnR w="6350">
                      <a:solidFill>
                        <a:srgbClr val="2462EB"/>
                      </a:solidFill>
                      <a:prstDash val="solid"/>
                    </a:lnR>
                    <a:lnT w="28575">
                      <a:solidFill>
                        <a:srgbClr val="2462EB"/>
                      </a:solidFill>
                      <a:prstDash val="solid"/>
                    </a:lnT>
                    <a:lnB w="12700">
                      <a:solidFill>
                        <a:srgbClr val="2462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981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50" b="1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Angular </a:t>
                      </a:r>
                      <a:r>
                        <a:rPr sz="950" b="1" spc="-25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17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94615" marB="0">
                    <a:lnL w="6350">
                      <a:solidFill>
                        <a:srgbClr val="2462EB"/>
                      </a:solidFill>
                      <a:prstDash val="solid"/>
                    </a:lnL>
                    <a:lnR w="6350">
                      <a:solidFill>
                        <a:srgbClr val="2462EB"/>
                      </a:solidFill>
                      <a:prstDash val="solid"/>
                    </a:lnR>
                    <a:lnT w="28575">
                      <a:solidFill>
                        <a:srgbClr val="2462EB"/>
                      </a:solidFill>
                      <a:prstDash val="solid"/>
                    </a:lnT>
                    <a:lnB w="12700">
                      <a:solidFill>
                        <a:srgbClr val="2462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3016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5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MySQL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94615" marB="0">
                    <a:lnL w="6350">
                      <a:solidFill>
                        <a:srgbClr val="2462EB"/>
                      </a:solidFill>
                      <a:prstDash val="solid"/>
                    </a:lnL>
                    <a:lnR w="6350">
                      <a:solidFill>
                        <a:srgbClr val="2462EB"/>
                      </a:solidFill>
                      <a:prstDash val="solid"/>
                    </a:lnR>
                    <a:lnT w="28575">
                      <a:solidFill>
                        <a:srgbClr val="2462EB"/>
                      </a:solidFill>
                      <a:prstDash val="solid"/>
                    </a:lnT>
                    <a:lnB w="12700">
                      <a:solidFill>
                        <a:srgbClr val="2462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2247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5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RabbitMQ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94615" marB="0">
                    <a:lnL w="6350">
                      <a:solidFill>
                        <a:srgbClr val="2462EB"/>
                      </a:solidFill>
                      <a:prstDash val="solid"/>
                    </a:lnL>
                    <a:lnR w="6350">
                      <a:solidFill>
                        <a:srgbClr val="2462EB"/>
                      </a:solidFill>
                      <a:prstDash val="solid"/>
                    </a:lnR>
                    <a:lnT w="28575">
                      <a:solidFill>
                        <a:srgbClr val="2462EB"/>
                      </a:solidFill>
                      <a:prstDash val="solid"/>
                    </a:lnT>
                    <a:lnB w="12700">
                      <a:solidFill>
                        <a:srgbClr val="2462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2381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5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Razorpay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94615" marB="0">
                    <a:lnL w="6350">
                      <a:solidFill>
                        <a:srgbClr val="2462EB"/>
                      </a:solidFill>
                      <a:prstDash val="solid"/>
                    </a:lnL>
                    <a:lnR w="6350">
                      <a:solidFill>
                        <a:srgbClr val="2462EB"/>
                      </a:solidFill>
                      <a:prstDash val="solid"/>
                    </a:lnR>
                    <a:lnT w="28575">
                      <a:solidFill>
                        <a:srgbClr val="2462EB"/>
                      </a:solidFill>
                      <a:prstDash val="solid"/>
                    </a:lnT>
                    <a:lnB w="12700">
                      <a:solidFill>
                        <a:srgbClr val="2462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endParaRPr sz="950" dirty="0">
                        <a:latin typeface="Times New Roman"/>
                        <a:cs typeface="Times New Roman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50" b="1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JWT + </a:t>
                      </a:r>
                      <a:r>
                        <a:rPr sz="95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OAuth2</a:t>
                      </a:r>
                      <a:endParaRPr sz="950" dirty="0">
                        <a:latin typeface="Arial"/>
                        <a:cs typeface="Arial"/>
                      </a:endParaRPr>
                    </a:p>
                  </a:txBody>
                  <a:tcPr marL="0" marR="0" marT="94615" marB="0">
                    <a:lnL w="6350">
                      <a:solidFill>
                        <a:srgbClr val="2462EB"/>
                      </a:solidFill>
                      <a:prstDash val="solid"/>
                    </a:lnL>
                    <a:lnR w="12700">
                      <a:solidFill>
                        <a:srgbClr val="2462EB"/>
                      </a:solidFill>
                      <a:prstDash val="solid"/>
                    </a:lnR>
                    <a:lnT w="28575">
                      <a:solidFill>
                        <a:srgbClr val="2462EB"/>
                      </a:solidFill>
                      <a:prstDash val="solid"/>
                    </a:lnT>
                    <a:lnB w="12700">
                      <a:solidFill>
                        <a:srgbClr val="2462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719999" y="8293999"/>
            <a:ext cx="6120130" cy="317500"/>
          </a:xfrm>
          <a:custGeom>
            <a:avLst/>
            <a:gdLst/>
            <a:ahLst/>
            <a:cxnLst/>
            <a:rect l="l" t="t" r="r" b="b"/>
            <a:pathLst>
              <a:path w="6120130" h="317500">
                <a:moveTo>
                  <a:pt x="6120000" y="0"/>
                </a:moveTo>
                <a:lnTo>
                  <a:pt x="50800" y="0"/>
                </a:lnTo>
                <a:lnTo>
                  <a:pt x="31015" y="3988"/>
                </a:lnTo>
                <a:lnTo>
                  <a:pt x="14869" y="14869"/>
                </a:lnTo>
                <a:lnTo>
                  <a:pt x="3988" y="31015"/>
                </a:lnTo>
                <a:lnTo>
                  <a:pt x="0" y="50799"/>
                </a:lnTo>
                <a:lnTo>
                  <a:pt x="0" y="317499"/>
                </a:lnTo>
                <a:lnTo>
                  <a:pt x="6120000" y="317499"/>
                </a:lnTo>
                <a:lnTo>
                  <a:pt x="6120000" y="0"/>
                </a:lnTo>
                <a:close/>
              </a:path>
            </a:pathLst>
          </a:custGeom>
          <a:solidFill>
            <a:srgbClr val="DBE9F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218316"/>
              </p:ext>
            </p:extLst>
          </p:nvPr>
        </p:nvGraphicFramePr>
        <p:xfrm>
          <a:off x="709315" y="8114929"/>
          <a:ext cx="6121398" cy="482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4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2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50" b="1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8 </a:t>
                      </a:r>
                      <a:r>
                        <a:rPr sz="95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Microservices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L w="28575">
                      <a:solidFill>
                        <a:srgbClr val="2462EB"/>
                      </a:solidFill>
                      <a:prstDash val="solid"/>
                    </a:lnL>
                    <a:lnR w="6350">
                      <a:solidFill>
                        <a:srgbClr val="2462EB"/>
                      </a:solidFill>
                      <a:prstDash val="solid"/>
                    </a:lnR>
                    <a:lnT w="28575">
                      <a:solidFill>
                        <a:srgbClr val="2462EB"/>
                      </a:solidFill>
                      <a:prstDash val="solid"/>
                    </a:lnT>
                    <a:lnB w="12700">
                      <a:solidFill>
                        <a:srgbClr val="2462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50" b="1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Eureka </a:t>
                      </a:r>
                      <a:r>
                        <a:rPr sz="95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Discovery</a:t>
                      </a:r>
                      <a:endParaRPr sz="950" dirty="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L w="6350">
                      <a:solidFill>
                        <a:srgbClr val="2462EB"/>
                      </a:solidFill>
                      <a:prstDash val="solid"/>
                    </a:lnL>
                    <a:lnR w="6350">
                      <a:solidFill>
                        <a:srgbClr val="2462EB"/>
                      </a:solidFill>
                      <a:prstDash val="solid"/>
                    </a:lnR>
                    <a:lnT w="28575">
                      <a:solidFill>
                        <a:srgbClr val="2462EB"/>
                      </a:solidFill>
                      <a:prstDash val="solid"/>
                    </a:lnT>
                    <a:lnB w="12700">
                      <a:solidFill>
                        <a:srgbClr val="2462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972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50" b="1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REST</a:t>
                      </a:r>
                      <a:r>
                        <a:rPr sz="950" b="1" spc="-3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50" b="1" spc="-2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APIs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L w="6350">
                      <a:solidFill>
                        <a:srgbClr val="2462EB"/>
                      </a:solidFill>
                      <a:prstDash val="solid"/>
                    </a:lnL>
                    <a:lnR w="6350">
                      <a:solidFill>
                        <a:srgbClr val="2462EB"/>
                      </a:solidFill>
                      <a:prstDash val="solid"/>
                    </a:lnR>
                    <a:lnT w="28575">
                      <a:solidFill>
                        <a:srgbClr val="2462EB"/>
                      </a:solidFill>
                      <a:prstDash val="solid"/>
                    </a:lnT>
                    <a:lnB w="12700">
                      <a:solidFill>
                        <a:srgbClr val="2462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50" b="1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Docker </a:t>
                      </a:r>
                      <a:r>
                        <a:rPr sz="95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Ready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L w="6350">
                      <a:solidFill>
                        <a:srgbClr val="2462EB"/>
                      </a:solidFill>
                      <a:prstDash val="solid"/>
                    </a:lnL>
                    <a:lnR w="6350">
                      <a:solidFill>
                        <a:srgbClr val="2462EB"/>
                      </a:solidFill>
                      <a:prstDash val="solid"/>
                    </a:lnR>
                    <a:lnT w="28575">
                      <a:solidFill>
                        <a:srgbClr val="2462EB"/>
                      </a:solidFill>
                      <a:prstDash val="solid"/>
                    </a:lnT>
                    <a:lnB w="12700">
                      <a:solidFill>
                        <a:srgbClr val="2462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50" b="1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SonarQube </a:t>
                      </a:r>
                      <a:r>
                        <a:rPr sz="95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CI/CD</a:t>
                      </a:r>
                      <a:endParaRPr sz="950" dirty="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L w="6350">
                      <a:solidFill>
                        <a:srgbClr val="2462EB"/>
                      </a:solidFill>
                      <a:prstDash val="solid"/>
                    </a:lnL>
                    <a:lnR w="12700">
                      <a:solidFill>
                        <a:srgbClr val="2462EB"/>
                      </a:solidFill>
                      <a:prstDash val="solid"/>
                    </a:lnR>
                    <a:lnT w="28575">
                      <a:solidFill>
                        <a:srgbClr val="2462EB"/>
                      </a:solidFill>
                      <a:prstDash val="solid"/>
                    </a:lnT>
                    <a:lnB w="12700">
                      <a:solidFill>
                        <a:srgbClr val="2462E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19999" y="8893099"/>
            <a:ext cx="6120130" cy="609600"/>
          </a:xfrm>
          <a:prstGeom prst="rect">
            <a:avLst/>
          </a:prstGeom>
          <a:solidFill>
            <a:srgbClr val="DBE9FD"/>
          </a:solidFill>
          <a:ln w="19050">
            <a:solidFill>
              <a:srgbClr val="2462EB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800"/>
              </a:spcBef>
            </a:pP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Prepared</a:t>
            </a:r>
            <a:r>
              <a:rPr sz="1000" b="1" spc="-10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for:</a:t>
            </a:r>
            <a:r>
              <a:rPr sz="1000" b="1" spc="-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Capgemini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Sprint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Review</a:t>
            </a:r>
            <a:r>
              <a:rPr sz="1000" spc="135" dirty="0">
                <a:solidFill>
                  <a:srgbClr val="111826"/>
                </a:solidFill>
                <a:latin typeface="Arial MT"/>
                <a:cs typeface="Arial MT"/>
              </a:rPr>
              <a:t> 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|</a:t>
            </a:r>
            <a:r>
              <a:rPr sz="1000" spc="130" dirty="0">
                <a:solidFill>
                  <a:srgbClr val="111826"/>
                </a:solidFill>
                <a:latin typeface="Arial MT"/>
                <a:cs typeface="Arial MT"/>
              </a:rPr>
              <a:t> 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Project: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BookNest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E-Commerce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Platform</a:t>
            </a:r>
            <a:r>
              <a:rPr sz="1000" spc="130" dirty="0">
                <a:solidFill>
                  <a:srgbClr val="111826"/>
                </a:solidFill>
                <a:latin typeface="Arial MT"/>
                <a:cs typeface="Arial MT"/>
              </a:rPr>
              <a:t> 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|</a:t>
            </a:r>
            <a:r>
              <a:rPr sz="1000" spc="135" dirty="0">
                <a:solidFill>
                  <a:srgbClr val="111826"/>
                </a:solidFill>
                <a:latin typeface="Arial MT"/>
                <a:cs typeface="Arial MT"/>
              </a:rPr>
              <a:t> 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Version:</a:t>
            </a:r>
            <a:r>
              <a:rPr sz="1000" b="1" spc="-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111826"/>
                </a:solidFill>
                <a:latin typeface="Arial MT"/>
                <a:cs typeface="Arial MT"/>
              </a:rPr>
              <a:t>1.0</a:t>
            </a:r>
            <a:endParaRPr sz="1000">
              <a:latin typeface="Arial MT"/>
              <a:cs typeface="Arial MT"/>
            </a:endParaRPr>
          </a:p>
          <a:p>
            <a:pPr marL="222885">
              <a:lnSpc>
                <a:spcPct val="100000"/>
              </a:lnSpc>
              <a:spcBef>
                <a:spcPts val="400"/>
              </a:spcBef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|</a:t>
            </a:r>
            <a:r>
              <a:rPr sz="1000" spc="135" dirty="0">
                <a:solidFill>
                  <a:srgbClr val="111826"/>
                </a:solidFill>
                <a:latin typeface="Arial MT"/>
                <a:cs typeface="Arial MT"/>
              </a:rPr>
              <a:t> 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Date: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May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11826"/>
                </a:solidFill>
                <a:latin typeface="Arial MT"/>
                <a:cs typeface="Arial MT"/>
              </a:rPr>
              <a:t>2026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9999" y="868199"/>
            <a:ext cx="6120130" cy="533400"/>
          </a:xfrm>
          <a:custGeom>
            <a:avLst/>
            <a:gdLst/>
            <a:ahLst/>
            <a:cxnLst/>
            <a:rect l="l" t="t" r="r" b="b"/>
            <a:pathLst>
              <a:path w="6120130" h="533400">
                <a:moveTo>
                  <a:pt x="61200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533400"/>
                </a:lnTo>
                <a:lnTo>
                  <a:pt x="6120000" y="533400"/>
                </a:lnTo>
                <a:lnTo>
                  <a:pt x="6120000" y="0"/>
                </a:lnTo>
                <a:close/>
              </a:path>
            </a:pathLst>
          </a:custGeom>
          <a:solidFill>
            <a:srgbClr val="1A3A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0499" y="982499"/>
            <a:ext cx="43211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17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Overview</a:t>
            </a:r>
            <a:r>
              <a:rPr sz="17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sz="17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Arial"/>
                <a:cs typeface="Arial"/>
              </a:rPr>
              <a:t>BookNest?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999" y="1528599"/>
            <a:ext cx="6120130" cy="1016000"/>
          </a:xfrm>
          <a:prstGeom prst="rect">
            <a:avLst/>
          </a:prstGeom>
          <a:solidFill>
            <a:srgbClr val="DBE9FD"/>
          </a:solidFill>
          <a:ln w="19050">
            <a:solidFill>
              <a:srgbClr val="2462EB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52400" marR="144145" algn="just">
              <a:lnSpc>
                <a:spcPct val="133300"/>
              </a:lnSpc>
              <a:spcBef>
                <a:spcPts val="400"/>
              </a:spcBef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BookNest</a:t>
            </a:r>
            <a:r>
              <a:rPr sz="1000" spc="1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is</a:t>
            </a:r>
            <a:r>
              <a:rPr sz="1000" spc="1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</a:t>
            </a:r>
            <a:r>
              <a:rPr sz="1000" spc="1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full-stack</a:t>
            </a:r>
            <a:r>
              <a:rPr sz="1000" b="1" spc="190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e-commerce</a:t>
            </a:r>
            <a:r>
              <a:rPr sz="1000" b="1" spc="190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bookstore</a:t>
            </a:r>
            <a:r>
              <a:rPr sz="1000" b="1" spc="190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platform</a:t>
            </a:r>
            <a:r>
              <a:rPr sz="1000" b="1" spc="190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built</a:t>
            </a:r>
            <a:r>
              <a:rPr sz="1000" spc="1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using</a:t>
            </a:r>
            <a:r>
              <a:rPr sz="1000" spc="1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Java</a:t>
            </a:r>
            <a:r>
              <a:rPr sz="1000" spc="1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Spring</a:t>
            </a:r>
            <a:r>
              <a:rPr sz="1000" spc="1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Boot</a:t>
            </a:r>
            <a:r>
              <a:rPr sz="1000" spc="1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(backend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microservices)</a:t>
            </a:r>
            <a:r>
              <a:rPr sz="1000" spc="3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and</a:t>
            </a:r>
            <a:r>
              <a:rPr sz="1000" spc="3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Angular</a:t>
            </a:r>
            <a:r>
              <a:rPr sz="1000" spc="3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17</a:t>
            </a:r>
            <a:r>
              <a:rPr sz="1000" spc="3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(frontend).</a:t>
            </a:r>
            <a:r>
              <a:rPr sz="1000" spc="3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It</a:t>
            </a:r>
            <a:r>
              <a:rPr sz="1000" spc="3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allows</a:t>
            </a:r>
            <a:r>
              <a:rPr sz="1000" spc="3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customers</a:t>
            </a:r>
            <a:r>
              <a:rPr sz="1000" spc="3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to</a:t>
            </a:r>
            <a:r>
              <a:rPr sz="1000" spc="3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discover,</a:t>
            </a:r>
            <a:r>
              <a:rPr sz="1000" spc="3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purchase,</a:t>
            </a:r>
            <a:r>
              <a:rPr sz="1000" spc="3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and</a:t>
            </a:r>
            <a:r>
              <a:rPr sz="1000" spc="3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review</a:t>
            </a:r>
            <a:r>
              <a:rPr sz="1000" spc="3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books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online.</a:t>
            </a:r>
            <a:r>
              <a:rPr sz="1000" spc="2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The</a:t>
            </a:r>
            <a:r>
              <a:rPr sz="1000" spc="2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platform</a:t>
            </a:r>
            <a:r>
              <a:rPr sz="1000" spc="2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has</a:t>
            </a:r>
            <a:r>
              <a:rPr sz="1000" spc="2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two</a:t>
            </a:r>
            <a:r>
              <a:rPr sz="1000" spc="2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types</a:t>
            </a:r>
            <a:r>
              <a:rPr sz="1000" spc="2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of</a:t>
            </a:r>
            <a:r>
              <a:rPr sz="1000" spc="2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users</a:t>
            </a:r>
            <a:r>
              <a:rPr sz="1000" spc="2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—</a:t>
            </a:r>
            <a:r>
              <a:rPr sz="1000" spc="2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Customers</a:t>
            </a:r>
            <a:r>
              <a:rPr sz="1000" b="1" spc="24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and</a:t>
            </a:r>
            <a:r>
              <a:rPr sz="1000" spc="2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Admins</a:t>
            </a:r>
            <a:r>
              <a:rPr sz="1000" b="1" spc="240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—</a:t>
            </a:r>
            <a:r>
              <a:rPr sz="1000" spc="2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each</a:t>
            </a:r>
            <a:r>
              <a:rPr sz="1000" spc="2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with</a:t>
            </a:r>
            <a:r>
              <a:rPr sz="1000" spc="2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their</a:t>
            </a:r>
            <a:r>
              <a:rPr sz="1000" spc="2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11826"/>
                </a:solidFill>
                <a:latin typeface="Arial MT"/>
                <a:cs typeface="Arial MT"/>
              </a:rPr>
              <a:t>own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dedicated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interface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and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permissions.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3499" y="2735099"/>
            <a:ext cx="265874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What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can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users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do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on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BookNest?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17459" y="3024659"/>
          <a:ext cx="6119495" cy="191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9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9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Who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What They Can </a:t>
                      </a:r>
                      <a:r>
                        <a:rPr sz="95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Do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Guest (not logged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Browse books, search by title/author/genre, view book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details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Customer (logged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396240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Buy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books (COD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 e-wallet), manage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 &amp;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wishlist, write reviews,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track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orders,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manage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wallet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Admin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337820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Add/edit/delete books, manage orders, view analytics, moderate reviews,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manage users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System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(automated)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Send email + in-app notifications for order updates, low stock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alerts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3499" y="5080535"/>
            <a:ext cx="5276215" cy="193484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Key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Highlights</a:t>
            </a:r>
            <a:endParaRPr sz="1300">
              <a:latin typeface="Arial"/>
              <a:cs typeface="Arial"/>
            </a:endParaRPr>
          </a:p>
          <a:p>
            <a:pPr marL="215265" indent="-202565">
              <a:lnSpc>
                <a:spcPct val="100000"/>
              </a:lnSpc>
              <a:spcBef>
                <a:spcPts val="640"/>
              </a:spcBef>
              <a:buChar char="•"/>
              <a:tabLst>
                <a:tab pos="215265" algn="l"/>
              </a:tabLst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GitHub OAuth Login — users can sign in with their GitHub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account</a:t>
            </a:r>
            <a:endParaRPr sz="1000">
              <a:latin typeface="Arial MT"/>
              <a:cs typeface="Arial MT"/>
            </a:endParaRPr>
          </a:p>
          <a:p>
            <a:pPr marL="215265" indent="-202565">
              <a:lnSpc>
                <a:spcPct val="100000"/>
              </a:lnSpc>
              <a:spcBef>
                <a:spcPts val="600"/>
              </a:spcBef>
              <a:buChar char="•"/>
              <a:tabLst>
                <a:tab pos="215265" algn="l"/>
              </a:tabLst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E-Wallet System — add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money, pay for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orders, view full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transaction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history</a:t>
            </a:r>
            <a:endParaRPr sz="1000">
              <a:latin typeface="Arial MT"/>
              <a:cs typeface="Arial MT"/>
            </a:endParaRPr>
          </a:p>
          <a:p>
            <a:pPr marL="215265" indent="-202565">
              <a:lnSpc>
                <a:spcPct val="100000"/>
              </a:lnSpc>
              <a:spcBef>
                <a:spcPts val="600"/>
              </a:spcBef>
              <a:buChar char="•"/>
              <a:tabLst>
                <a:tab pos="215265" algn="l"/>
              </a:tabLst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Two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payment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modes —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Cash on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Delivery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(COD) and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Online (e-wallet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/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Razorpay)</a:t>
            </a:r>
            <a:endParaRPr sz="1000">
              <a:latin typeface="Arial MT"/>
              <a:cs typeface="Arial MT"/>
            </a:endParaRPr>
          </a:p>
          <a:p>
            <a:pPr marL="215265" indent="-202565">
              <a:lnSpc>
                <a:spcPct val="100000"/>
              </a:lnSpc>
              <a:spcBef>
                <a:spcPts val="600"/>
              </a:spcBef>
              <a:buChar char="•"/>
              <a:tabLst>
                <a:tab pos="215265" algn="l"/>
              </a:tabLst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Real-time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order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tracking —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Placed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Symbol"/>
                <a:cs typeface="Symbol"/>
              </a:rPr>
              <a:t></a:t>
            </a:r>
            <a:r>
              <a:rPr sz="1000" spc="25" dirty="0">
                <a:solidFill>
                  <a:srgbClr val="111826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Confirmed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Symbol"/>
                <a:cs typeface="Symbol"/>
              </a:rPr>
              <a:t></a:t>
            </a:r>
            <a:r>
              <a:rPr sz="1000" spc="20" dirty="0">
                <a:solidFill>
                  <a:srgbClr val="111826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Dispatched </a:t>
            </a:r>
            <a:r>
              <a:rPr sz="1000" dirty="0">
                <a:solidFill>
                  <a:srgbClr val="111826"/>
                </a:solidFill>
                <a:latin typeface="Symbol"/>
                <a:cs typeface="Symbol"/>
              </a:rPr>
              <a:t></a:t>
            </a:r>
            <a:r>
              <a:rPr sz="1000" spc="20" dirty="0">
                <a:solidFill>
                  <a:srgbClr val="111826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Delivered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Symbol"/>
                <a:cs typeface="Symbol"/>
              </a:rPr>
              <a:t></a:t>
            </a:r>
            <a:r>
              <a:rPr sz="1000" spc="25" dirty="0">
                <a:solidFill>
                  <a:srgbClr val="111826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Cancelled</a:t>
            </a:r>
            <a:endParaRPr sz="1000">
              <a:latin typeface="Arial MT"/>
              <a:cs typeface="Arial MT"/>
            </a:endParaRPr>
          </a:p>
          <a:p>
            <a:pPr marL="215265" indent="-202565">
              <a:lnSpc>
                <a:spcPct val="100000"/>
              </a:lnSpc>
              <a:spcBef>
                <a:spcPts val="600"/>
              </a:spcBef>
              <a:buChar char="•"/>
              <a:tabLst>
                <a:tab pos="215265" algn="l"/>
              </a:tabLst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In-app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+ Email Notifications via RabbitMQ (async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messaging)</a:t>
            </a:r>
            <a:endParaRPr sz="1000">
              <a:latin typeface="Arial MT"/>
              <a:cs typeface="Arial MT"/>
            </a:endParaRPr>
          </a:p>
          <a:p>
            <a:pPr marL="215265" indent="-202565">
              <a:lnSpc>
                <a:spcPct val="100000"/>
              </a:lnSpc>
              <a:spcBef>
                <a:spcPts val="600"/>
              </a:spcBef>
              <a:buChar char="•"/>
              <a:tabLst>
                <a:tab pos="215265" algn="l"/>
              </a:tabLst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Book reviews with 1–5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star ratings, only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verified purchasers can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review</a:t>
            </a:r>
            <a:endParaRPr sz="1000">
              <a:latin typeface="Arial MT"/>
              <a:cs typeface="Arial MT"/>
            </a:endParaRPr>
          </a:p>
          <a:p>
            <a:pPr marL="215265" indent="-202565">
              <a:lnSpc>
                <a:spcPct val="100000"/>
              </a:lnSpc>
              <a:spcBef>
                <a:spcPts val="600"/>
              </a:spcBef>
              <a:buChar char="•"/>
              <a:tabLst>
                <a:tab pos="215265" algn="l"/>
              </a:tabLst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Admin analytics dashboard —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sales totals, top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books, category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breakdowns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9999" y="868199"/>
            <a:ext cx="6120130" cy="533400"/>
          </a:xfrm>
          <a:custGeom>
            <a:avLst/>
            <a:gdLst/>
            <a:ahLst/>
            <a:cxnLst/>
            <a:rect l="l" t="t" r="r" b="b"/>
            <a:pathLst>
              <a:path w="6120130" h="533400">
                <a:moveTo>
                  <a:pt x="61200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533400"/>
                </a:lnTo>
                <a:lnTo>
                  <a:pt x="6120000" y="533400"/>
                </a:lnTo>
                <a:lnTo>
                  <a:pt x="6120000" y="0"/>
                </a:lnTo>
                <a:close/>
              </a:path>
            </a:pathLst>
          </a:custGeom>
          <a:solidFill>
            <a:srgbClr val="7C3A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0499" y="982499"/>
            <a:ext cx="41287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sz="17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Architecture</a:t>
            </a:r>
            <a:r>
              <a:rPr sz="17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sz="17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Arial"/>
                <a:cs typeface="Arial"/>
              </a:rPr>
              <a:t>Built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999" y="1528599"/>
            <a:ext cx="6120130" cy="1016000"/>
          </a:xfrm>
          <a:prstGeom prst="rect">
            <a:avLst/>
          </a:prstGeom>
          <a:solidFill>
            <a:srgbClr val="EDE8FD"/>
          </a:solidFill>
          <a:ln w="19050">
            <a:solidFill>
              <a:srgbClr val="7C3AED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52400" marR="144145" algn="just">
              <a:lnSpc>
                <a:spcPct val="133300"/>
              </a:lnSpc>
              <a:spcBef>
                <a:spcPts val="400"/>
              </a:spcBef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BookNest</a:t>
            </a:r>
            <a:r>
              <a:rPr sz="1000" spc="1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follows</a:t>
            </a:r>
            <a:r>
              <a:rPr sz="1000" spc="1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</a:t>
            </a:r>
            <a:r>
              <a:rPr sz="1000" spc="1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Microservices</a:t>
            </a:r>
            <a:r>
              <a:rPr sz="1000" b="1" spc="18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Architecture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.</a:t>
            </a:r>
            <a:r>
              <a:rPr sz="1000" spc="1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Instead</a:t>
            </a:r>
            <a:r>
              <a:rPr sz="1000" spc="1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of</a:t>
            </a:r>
            <a:r>
              <a:rPr sz="1000" spc="1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one</a:t>
            </a:r>
            <a:r>
              <a:rPr sz="1000" spc="1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big</a:t>
            </a:r>
            <a:r>
              <a:rPr sz="1000" spc="1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application,</a:t>
            </a:r>
            <a:r>
              <a:rPr sz="1000" spc="1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we</a:t>
            </a:r>
            <a:r>
              <a:rPr sz="1000" spc="1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have</a:t>
            </a:r>
            <a:r>
              <a:rPr sz="1000" spc="1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9</a:t>
            </a:r>
            <a:r>
              <a:rPr sz="1000" b="1" spc="180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11826"/>
                </a:solidFill>
                <a:latin typeface="Arial"/>
                <a:cs typeface="Arial"/>
              </a:rPr>
              <a:t>small,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independent</a:t>
            </a:r>
            <a:r>
              <a:rPr sz="1000" b="1" spc="140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services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,</a:t>
            </a:r>
            <a:r>
              <a:rPr sz="1000" spc="1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each</a:t>
            </a:r>
            <a:r>
              <a:rPr sz="1000" spc="1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doing</a:t>
            </a:r>
            <a:r>
              <a:rPr sz="1000" spc="1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one</a:t>
            </a:r>
            <a:r>
              <a:rPr sz="1000" spc="1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specific</a:t>
            </a:r>
            <a:r>
              <a:rPr sz="1000" spc="1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job.</a:t>
            </a:r>
            <a:r>
              <a:rPr sz="1000" spc="1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They</a:t>
            </a:r>
            <a:r>
              <a:rPr sz="1000" spc="1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talk</a:t>
            </a:r>
            <a:r>
              <a:rPr sz="1000" spc="1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to</a:t>
            </a:r>
            <a:r>
              <a:rPr sz="1000" spc="1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each</a:t>
            </a:r>
            <a:r>
              <a:rPr sz="1000" spc="1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other</a:t>
            </a:r>
            <a:r>
              <a:rPr sz="1000" spc="1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using</a:t>
            </a:r>
            <a:r>
              <a:rPr sz="1000" spc="1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REST</a:t>
            </a:r>
            <a:r>
              <a:rPr sz="1000" b="1" spc="14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APIs</a:t>
            </a:r>
            <a:r>
              <a:rPr sz="1000" b="1" spc="14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111826"/>
                </a:solidFill>
                <a:latin typeface="Arial MT"/>
                <a:cs typeface="Arial MT"/>
              </a:rPr>
              <a:t>(via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Spring's</a:t>
            </a:r>
            <a:r>
              <a:rPr sz="1000" spc="1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RestTemplate).</a:t>
            </a:r>
            <a:r>
              <a:rPr sz="1000" spc="1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There</a:t>
            </a:r>
            <a:r>
              <a:rPr sz="1000" spc="1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is</a:t>
            </a:r>
            <a:r>
              <a:rPr sz="1000" spc="1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also</a:t>
            </a:r>
            <a:r>
              <a:rPr sz="1000" spc="1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</a:t>
            </a:r>
            <a:r>
              <a:rPr sz="1000" spc="1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Eureka</a:t>
            </a:r>
            <a:r>
              <a:rPr sz="1000" b="1" spc="18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Discovery</a:t>
            </a:r>
            <a:r>
              <a:rPr sz="1000" b="1" spc="18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Server</a:t>
            </a:r>
            <a:r>
              <a:rPr sz="1000" b="1" spc="18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so</a:t>
            </a:r>
            <a:r>
              <a:rPr sz="1000" spc="1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each</a:t>
            </a:r>
            <a:r>
              <a:rPr sz="1000" spc="1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service</a:t>
            </a:r>
            <a:r>
              <a:rPr sz="1000" spc="1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can</a:t>
            </a:r>
            <a:r>
              <a:rPr sz="1000" spc="1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find</a:t>
            </a:r>
            <a:r>
              <a:rPr sz="1000" spc="1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other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services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automatically.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3499" y="2735099"/>
            <a:ext cx="243903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The</a:t>
            </a:r>
            <a:r>
              <a:rPr sz="1300" b="1" spc="-3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9</a:t>
            </a:r>
            <a:r>
              <a:rPr sz="1300" b="1" spc="-3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Services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and</a:t>
            </a:r>
            <a:r>
              <a:rPr sz="1300" b="1" spc="-3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Their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Ports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17459" y="3024659"/>
          <a:ext cx="6118860" cy="415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5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1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5219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Service </a:t>
                      </a: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Port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What It </a:t>
                      </a: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Does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booknest-web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(MVC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Layer)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8080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436880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The main website — Angular frontend talks here; Spring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MVC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controllers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auth-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8081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registration, login,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JWT tokens,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GitHub OAuth,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password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reset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8082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 catalog — add, search, filter, update stock, featured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8083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Shopping cart — add/remove items, update quantity, calculate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total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8084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Place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orders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(COD &amp;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online), track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status, manage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delivery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address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wallet-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8085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417830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E-wallet — add money, pay for orders, view statement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history, Razorpay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review-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8086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 reviews and ratings — add, edit, delete, compute avg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rating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notification-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8087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44005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Send email + in-app alerts; RabbitMQ consumer;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read/unread tracking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wishlist-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8088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Save books for later; move items from wishlist directly to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eureka-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8761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246379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 registry — all services register here so they can find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each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other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3499" y="7421399"/>
            <a:ext cx="223710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How</a:t>
            </a:r>
            <a:r>
              <a:rPr sz="1300" b="1" spc="-4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Services</a:t>
            </a:r>
            <a:r>
              <a:rPr sz="1300" b="1" spc="-4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Communicate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9999" y="7713499"/>
            <a:ext cx="6120130" cy="1422400"/>
          </a:xfrm>
          <a:prstGeom prst="rect">
            <a:avLst/>
          </a:prstGeom>
          <a:solidFill>
            <a:srgbClr val="DBE9FD"/>
          </a:solidFill>
          <a:ln w="19050">
            <a:solidFill>
              <a:srgbClr val="2462EB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52400" marR="144145" algn="just">
              <a:lnSpc>
                <a:spcPct val="133300"/>
              </a:lnSpc>
              <a:spcBef>
                <a:spcPts val="400"/>
              </a:spcBef>
            </a:pP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Synchronous</a:t>
            </a:r>
            <a:r>
              <a:rPr sz="1000" b="1" spc="-20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(REST):</a:t>
            </a:r>
            <a:r>
              <a:rPr sz="1000" b="1" spc="-20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Most</a:t>
            </a:r>
            <a:r>
              <a:rPr sz="1000" spc="-1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services</a:t>
            </a:r>
            <a:r>
              <a:rPr sz="1000" spc="-2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call</a:t>
            </a:r>
            <a:r>
              <a:rPr sz="1000" spc="-1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each</a:t>
            </a:r>
            <a:r>
              <a:rPr sz="1000" spc="-2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other</a:t>
            </a:r>
            <a:r>
              <a:rPr sz="1000" spc="-1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using</a:t>
            </a:r>
            <a:r>
              <a:rPr sz="1000" spc="-2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Spring's</a:t>
            </a:r>
            <a:r>
              <a:rPr sz="1000" spc="-2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RestTemplate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.</a:t>
            </a:r>
            <a:r>
              <a:rPr sz="1000" spc="-1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For</a:t>
            </a:r>
            <a:r>
              <a:rPr sz="1000" spc="-2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example,</a:t>
            </a:r>
            <a:r>
              <a:rPr sz="1000" spc="-1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11826"/>
                </a:solidFill>
                <a:latin typeface="Arial MT"/>
                <a:cs typeface="Arial MT"/>
              </a:rPr>
              <a:t>when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 customer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places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an order,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the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order-service calls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wallet-service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to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deduct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money.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000">
              <a:latin typeface="Arial MT"/>
              <a:cs typeface="Arial MT"/>
            </a:endParaRPr>
          </a:p>
          <a:p>
            <a:pPr marL="152400" marR="144145" algn="just">
              <a:lnSpc>
                <a:spcPct val="133300"/>
              </a:lnSpc>
            </a:pP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Asynchronous</a:t>
            </a:r>
            <a:r>
              <a:rPr sz="1000" b="1" spc="8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(RabbitMQ):</a:t>
            </a:r>
            <a:r>
              <a:rPr sz="1000" b="1" spc="90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After</a:t>
            </a:r>
            <a:r>
              <a:rPr sz="1000" spc="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an</a:t>
            </a:r>
            <a:r>
              <a:rPr sz="1000" spc="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order</a:t>
            </a:r>
            <a:r>
              <a:rPr sz="1000" spc="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is</a:t>
            </a:r>
            <a:r>
              <a:rPr sz="1000" spc="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placed</a:t>
            </a:r>
            <a:r>
              <a:rPr sz="1000" spc="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or</a:t>
            </a:r>
            <a:r>
              <a:rPr sz="1000" spc="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payment</a:t>
            </a:r>
            <a:r>
              <a:rPr sz="1000" spc="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done,</a:t>
            </a:r>
            <a:r>
              <a:rPr sz="1000" spc="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order-service</a:t>
            </a:r>
            <a:r>
              <a:rPr sz="1000" spc="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/</a:t>
            </a:r>
            <a:r>
              <a:rPr sz="1000" spc="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wallet-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service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publishes</a:t>
            </a:r>
            <a:r>
              <a:rPr sz="1000" spc="114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</a:t>
            </a:r>
            <a:r>
              <a:rPr sz="1000" spc="114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message</a:t>
            </a:r>
            <a:r>
              <a:rPr sz="1000" spc="12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to</a:t>
            </a:r>
            <a:r>
              <a:rPr sz="1000" spc="114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RabbitMQ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.</a:t>
            </a:r>
            <a:r>
              <a:rPr sz="1000" spc="114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The</a:t>
            </a:r>
            <a:r>
              <a:rPr sz="1000" spc="12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notification-service</a:t>
            </a:r>
            <a:r>
              <a:rPr sz="1000" spc="114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listens</a:t>
            </a:r>
            <a:r>
              <a:rPr sz="1000" spc="114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on</a:t>
            </a:r>
            <a:r>
              <a:rPr sz="1000" spc="12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this</a:t>
            </a:r>
            <a:r>
              <a:rPr sz="1000" spc="114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queue</a:t>
            </a:r>
            <a:r>
              <a:rPr sz="1000" spc="114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and</a:t>
            </a:r>
            <a:r>
              <a:rPr sz="1000" spc="12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sends</a:t>
            </a:r>
            <a:r>
              <a:rPr sz="1000" spc="114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email</a:t>
            </a:r>
            <a:r>
              <a:rPr sz="1000" spc="114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11826"/>
                </a:solidFill>
                <a:latin typeface="Arial MT"/>
                <a:cs typeface="Arial MT"/>
              </a:rPr>
              <a:t>+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in-app alerts. This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way the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order placement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is not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slowed down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waiting for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email to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be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sent.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3499" y="9326399"/>
            <a:ext cx="30988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Architecture</a:t>
            </a:r>
            <a:r>
              <a:rPr sz="1300" b="1" spc="-5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Flow</a:t>
            </a:r>
            <a:r>
              <a:rPr sz="1300" b="1" spc="-5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(Simple</a:t>
            </a:r>
            <a:r>
              <a:rPr sz="1300" b="1" spc="-5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Explanation)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9999" y="868199"/>
            <a:ext cx="6120130" cy="533400"/>
          </a:xfrm>
          <a:custGeom>
            <a:avLst/>
            <a:gdLst/>
            <a:ahLst/>
            <a:cxnLst/>
            <a:rect l="l" t="t" r="r" b="b"/>
            <a:pathLst>
              <a:path w="6120130" h="533400">
                <a:moveTo>
                  <a:pt x="61200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533400"/>
                </a:lnTo>
                <a:lnTo>
                  <a:pt x="6120000" y="533400"/>
                </a:lnTo>
                <a:lnTo>
                  <a:pt x="6120000" y="0"/>
                </a:lnTo>
                <a:close/>
              </a:path>
            </a:pathLst>
          </a:custGeom>
          <a:solidFill>
            <a:srgbClr val="16A3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0499" y="982499"/>
            <a:ext cx="211328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3.</a:t>
            </a:r>
            <a:r>
              <a:rPr sz="17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r>
              <a:rPr sz="17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Arial"/>
                <a:cs typeface="Arial"/>
              </a:rPr>
              <a:t>Stack</a:t>
            </a:r>
            <a:endParaRPr sz="17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17459" y="1526059"/>
          <a:ext cx="6121400" cy="4787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4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6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Layer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marL="5791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Technology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Why </a:t>
                      </a: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Used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Backend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Java 17 + Spring Boot </a:t>
                      </a: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Industry standard, REST APIs, DI,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JPA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Frontend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Angular 17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(TypeScript)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Component-based SPA, routing, reactive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forms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Database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MySQL (per-service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schema)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Relational data, ACID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compliance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Auth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487680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JWT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+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Spring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Security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+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OAuth2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Stateless auth, GitHub social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login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Messaging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RabbitMQ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Async notification dispatch after order/payment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events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Payment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Razorpay + Internal E-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Wallet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Real payment gateway + custom wallet top-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up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Email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JavaMailSender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(SMTP)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21907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 confirmation, dispatch alerts, OTP for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password reset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Discovery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Netflix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Eureka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Dynamic service registration &amp;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lookup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Build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Tool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Maven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Dependency management for all Spring Boot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CI/CD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GitHub Actions +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SonarQube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Automated build, test, code quality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checks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Testing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27495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JUnit 5 + Mockito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(backend),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Jest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(frontend)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Unit tests for all service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implementations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Image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Storage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214629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Local file server (extensible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to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AWS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S3)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 cover image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uploads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9999" y="868199"/>
            <a:ext cx="6120130" cy="533400"/>
          </a:xfrm>
          <a:custGeom>
            <a:avLst/>
            <a:gdLst/>
            <a:ahLst/>
            <a:cxnLst/>
            <a:rect l="l" t="t" r="r" b="b"/>
            <a:pathLst>
              <a:path w="6120130" h="533400">
                <a:moveTo>
                  <a:pt x="61200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533400"/>
                </a:lnTo>
                <a:lnTo>
                  <a:pt x="6120000" y="533400"/>
                </a:lnTo>
                <a:lnTo>
                  <a:pt x="6120000" y="0"/>
                </a:lnTo>
                <a:close/>
              </a:path>
            </a:pathLst>
          </a:custGeom>
          <a:solidFill>
            <a:srgbClr val="E957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0499" y="982499"/>
            <a:ext cx="44411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4.</a:t>
            </a:r>
            <a:r>
              <a:rPr sz="17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Database</a:t>
            </a:r>
            <a:r>
              <a:rPr sz="17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Design</a:t>
            </a:r>
            <a:r>
              <a:rPr sz="17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17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17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Tables</a:t>
            </a:r>
            <a:r>
              <a:rPr sz="17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999" y="1528599"/>
            <a:ext cx="6120130" cy="1219200"/>
          </a:xfrm>
          <a:prstGeom prst="rect">
            <a:avLst/>
          </a:prstGeom>
          <a:solidFill>
            <a:srgbClr val="FFEDD4"/>
          </a:solidFill>
          <a:ln w="19050">
            <a:solidFill>
              <a:srgbClr val="E9570C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52400" marR="144145" algn="just">
              <a:lnSpc>
                <a:spcPct val="133300"/>
              </a:lnSpc>
              <a:spcBef>
                <a:spcPts val="400"/>
              </a:spcBef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BookNest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uses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MySQL</a:t>
            </a:r>
            <a:r>
              <a:rPr sz="1000" b="1" spc="-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as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its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database.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Since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we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have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microservices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architecture,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each</a:t>
            </a:r>
            <a:r>
              <a:rPr sz="1000" b="1" spc="-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service</a:t>
            </a:r>
            <a:r>
              <a:rPr sz="1000" b="1" spc="-10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111826"/>
                </a:solidFill>
                <a:latin typeface="Arial"/>
                <a:cs typeface="Arial"/>
              </a:rPr>
              <a:t>has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its</a:t>
            </a:r>
            <a:r>
              <a:rPr sz="1000" b="1" spc="50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own</a:t>
            </a:r>
            <a:r>
              <a:rPr sz="1000" b="1" spc="5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separate</a:t>
            </a:r>
            <a:r>
              <a:rPr sz="1000" b="1" spc="5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database</a:t>
            </a:r>
            <a:r>
              <a:rPr sz="1000" b="1" spc="50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schema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.</a:t>
            </a:r>
            <a:r>
              <a:rPr sz="1000" spc="5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This</a:t>
            </a:r>
            <a:r>
              <a:rPr sz="1000" spc="5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means</a:t>
            </a:r>
            <a:r>
              <a:rPr sz="1000" spc="5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services</a:t>
            </a:r>
            <a:r>
              <a:rPr sz="1000" spc="5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are</a:t>
            </a:r>
            <a:r>
              <a:rPr sz="1000" spc="5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truly</a:t>
            </a:r>
            <a:r>
              <a:rPr sz="1000" spc="5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independent</a:t>
            </a:r>
            <a:r>
              <a:rPr sz="1000" spc="5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—</a:t>
            </a:r>
            <a:r>
              <a:rPr sz="1000" spc="5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the</a:t>
            </a:r>
            <a:r>
              <a:rPr sz="1000" spc="5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cart</a:t>
            </a:r>
            <a:r>
              <a:rPr sz="1000" spc="5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database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has no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direct foreign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key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to the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books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database. They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share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data only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via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REST API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calls.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000">
              <a:latin typeface="Arial MT"/>
              <a:cs typeface="Arial MT"/>
            </a:endParaRPr>
          </a:p>
          <a:p>
            <a:pPr marL="152400" algn="just">
              <a:lnSpc>
                <a:spcPct val="100000"/>
              </a:lnSpc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Total tables across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all services: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12</a:t>
            </a:r>
            <a:r>
              <a:rPr sz="1000" b="1" spc="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11826"/>
                </a:solidFill>
                <a:latin typeface="Arial"/>
                <a:cs typeface="Arial"/>
              </a:rPr>
              <a:t>tables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3499" y="2837667"/>
            <a:ext cx="2063750" cy="56578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All</a:t>
            </a:r>
            <a:r>
              <a:rPr sz="1300" b="1" spc="-4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Database</a:t>
            </a:r>
            <a:r>
              <a:rPr sz="1300" b="1" spc="-3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Tables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Table</a:t>
            </a:r>
            <a:r>
              <a:rPr sz="1050" b="1" spc="-1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1:</a:t>
            </a:r>
            <a:r>
              <a:rPr sz="1050" b="1" spc="-1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users</a:t>
            </a:r>
            <a:r>
              <a:rPr sz="1050" b="1" spc="-10" dirty="0">
                <a:solidFill>
                  <a:srgbClr val="1A3A5B"/>
                </a:solidFill>
                <a:latin typeface="Arial"/>
                <a:cs typeface="Arial"/>
              </a:rPr>
              <a:t> (auth-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service</a:t>
            </a:r>
            <a:r>
              <a:rPr sz="1050" b="1" spc="-1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spc="-25" dirty="0">
                <a:solidFill>
                  <a:srgbClr val="1A3A5B"/>
                </a:solidFill>
                <a:latin typeface="Arial"/>
                <a:cs typeface="Arial"/>
              </a:rPr>
              <a:t>DB)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17459" y="3431059"/>
          <a:ext cx="6118860" cy="318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9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Column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user_id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(PK)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16192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AUTO_INCRE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Unique user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full_name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User's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full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name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email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55562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 UNIQUE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Login email — must be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unique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password_hash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bcrypt-hashed password (never stored as plain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text)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role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CUSTOMER</a:t>
                      </a:r>
                      <a:r>
                        <a:rPr sz="900" spc="-3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ADMIN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provider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LOCAL (email login) or GITHUB (OAuth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login)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mobile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BIGINT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Phone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number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created_at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DATETIME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When the account was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created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3499" y="6735599"/>
            <a:ext cx="21374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Table</a:t>
            </a:r>
            <a:r>
              <a:rPr sz="1050" b="1" spc="-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2:</a:t>
            </a:r>
            <a:r>
              <a:rPr sz="1050" b="1" spc="-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books</a:t>
            </a:r>
            <a:r>
              <a:rPr sz="1050" b="1" spc="-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1A3A5B"/>
                </a:solidFill>
                <a:latin typeface="Arial"/>
                <a:cs typeface="Arial"/>
              </a:rPr>
              <a:t>(book-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service</a:t>
            </a:r>
            <a:r>
              <a:rPr sz="1050" b="1" spc="-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spc="-25" dirty="0">
                <a:solidFill>
                  <a:srgbClr val="1A3A5B"/>
                </a:solidFill>
                <a:latin typeface="Arial"/>
                <a:cs typeface="Arial"/>
              </a:rPr>
              <a:t>DB)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17459" y="6948960"/>
          <a:ext cx="6119494" cy="2705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9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3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Column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book_id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(PK)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176530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AUTO_INCREMENT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Unique book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title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title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author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Author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name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isbn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UNIQUE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International Standard Book Number — unique per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genre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Fiction, Non-Fiction, Science,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etc.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publisher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Publisher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name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price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DOUBLE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Selling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price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17459" y="865659"/>
          <a:ext cx="6119494" cy="2222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9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3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Column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stock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Number of copies available in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inventory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rating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DOUBLE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Average rating (updated from review-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description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TEXT (2000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chars)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Full book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description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cover_image_url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Path/URL to the cover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image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published_date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DATE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Original publication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date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featured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BOOLEAN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Whether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shown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'Featured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Books'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section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83499" y="3204999"/>
            <a:ext cx="19894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Table</a:t>
            </a:r>
            <a:r>
              <a:rPr sz="1050" b="1" spc="-1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3:</a:t>
            </a:r>
            <a:r>
              <a:rPr sz="1050" b="1" spc="-1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carts</a:t>
            </a:r>
            <a:r>
              <a:rPr sz="1050" b="1" spc="-10" dirty="0">
                <a:solidFill>
                  <a:srgbClr val="1A3A5B"/>
                </a:solidFill>
                <a:latin typeface="Arial"/>
                <a:cs typeface="Arial"/>
              </a:rPr>
              <a:t> (cart-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service</a:t>
            </a:r>
            <a:r>
              <a:rPr sz="1050" b="1" spc="-1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spc="-25" dirty="0">
                <a:solidFill>
                  <a:srgbClr val="1A3A5B"/>
                </a:solidFill>
                <a:latin typeface="Arial"/>
                <a:cs typeface="Arial"/>
              </a:rPr>
              <a:t>DB)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17459" y="3418359"/>
          <a:ext cx="6118860" cy="1435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9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Column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cart_id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(PK)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16192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AUTO_INCRE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Unique cart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user_id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Links to the user (no FK across services — just an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ID)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total_price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DOUBLE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Sum of all items in the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83499" y="4970299"/>
            <a:ext cx="23380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Table</a:t>
            </a:r>
            <a:r>
              <a:rPr sz="1050" b="1" spc="-2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4:</a:t>
            </a:r>
            <a:r>
              <a:rPr sz="1050" b="1" spc="-1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cart_items</a:t>
            </a:r>
            <a:r>
              <a:rPr sz="1050" b="1" spc="-1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1A3A5B"/>
                </a:solidFill>
                <a:latin typeface="Arial"/>
                <a:cs typeface="Arial"/>
              </a:rPr>
              <a:t>(cart-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service</a:t>
            </a:r>
            <a:r>
              <a:rPr sz="1050" b="1" spc="-1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spc="-25" dirty="0">
                <a:solidFill>
                  <a:srgbClr val="1A3A5B"/>
                </a:solidFill>
                <a:latin typeface="Arial"/>
                <a:cs typeface="Arial"/>
              </a:rPr>
              <a:t>DB)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17459" y="5183659"/>
          <a:ext cx="6118860" cy="238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9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Column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item_id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(PK)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16192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AUTO_INCRE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Unique cart item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cart_id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(FK)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Which cart this item belongs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book_id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Reference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to the book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(ID only, no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hard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FK)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book_title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Stored here so cart works even if book is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deleted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price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DOUBLE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Price at the time item was added to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quantity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How many copies the customer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wants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3499" y="7688099"/>
            <a:ext cx="21824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Table</a:t>
            </a:r>
            <a:r>
              <a:rPr sz="1050" b="1" spc="-1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5:</a:t>
            </a:r>
            <a:r>
              <a:rPr sz="1050" b="1" spc="-1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orders</a:t>
            </a:r>
            <a:r>
              <a:rPr sz="1050" b="1" spc="-10" dirty="0">
                <a:solidFill>
                  <a:srgbClr val="1A3A5B"/>
                </a:solidFill>
                <a:latin typeface="Arial"/>
                <a:cs typeface="Arial"/>
              </a:rPr>
              <a:t> (order-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service</a:t>
            </a:r>
            <a:r>
              <a:rPr sz="1050" b="1" spc="-1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spc="-25" dirty="0">
                <a:solidFill>
                  <a:srgbClr val="1A3A5B"/>
                </a:solidFill>
                <a:latin typeface="Arial"/>
                <a:cs typeface="Arial"/>
              </a:rPr>
              <a:t>DB)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17459" y="7901460"/>
          <a:ext cx="6118860" cy="1752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9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Column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order_id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(PK)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16192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AUTO_INCRE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Unique order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user_id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Customer who placed the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order_date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DATE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When order was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placed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amount_paid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DOUBLE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Total amount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charged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17459" y="865659"/>
          <a:ext cx="6118860" cy="2222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9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Column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mode_of_payment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COD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ONLINE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order_status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Placed / Confirmed / Dispatched / Delivered /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Cancelled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quantity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Number of books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ordered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book_id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Which book was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ordered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book_title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Stored for display even if book is removed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later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address_id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(FK)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Delivery address (stored in same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DB)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83499" y="3204999"/>
            <a:ext cx="24269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Table</a:t>
            </a:r>
            <a:r>
              <a:rPr sz="1050" b="1" spc="-2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6:</a:t>
            </a:r>
            <a:r>
              <a:rPr sz="1050" b="1" spc="-1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addresses</a:t>
            </a:r>
            <a:r>
              <a:rPr sz="1050" b="1" spc="-1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1A3A5B"/>
                </a:solidFill>
                <a:latin typeface="Arial"/>
                <a:cs typeface="Arial"/>
              </a:rPr>
              <a:t>(order-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service</a:t>
            </a:r>
            <a:r>
              <a:rPr sz="1050" b="1" spc="-1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spc="-25" dirty="0">
                <a:solidFill>
                  <a:srgbClr val="1A3A5B"/>
                </a:solidFill>
                <a:latin typeface="Arial"/>
                <a:cs typeface="Arial"/>
              </a:rPr>
              <a:t>DB)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17459" y="3418359"/>
          <a:ext cx="6118860" cy="3022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9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Column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address_id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(PK)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16192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AUTO_INCRE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Unique address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customer_id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Which user this address belongs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full_name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Name for delivery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label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mobile_number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Contact number for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delivery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flat_number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House/flat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number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city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City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pincode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PIN / ZIP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code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state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State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499" y="855499"/>
            <a:ext cx="224155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Table</a:t>
            </a:r>
            <a:r>
              <a:rPr sz="1050" b="1" spc="-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7: wallets </a:t>
            </a:r>
            <a:r>
              <a:rPr sz="1050" b="1" spc="-10" dirty="0">
                <a:solidFill>
                  <a:srgbClr val="1A3A5B"/>
                </a:solidFill>
                <a:latin typeface="Arial"/>
                <a:cs typeface="Arial"/>
              </a:rPr>
              <a:t>(wallet-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service </a:t>
            </a:r>
            <a:r>
              <a:rPr sz="1050" b="1" spc="-25" dirty="0">
                <a:solidFill>
                  <a:srgbClr val="1A3A5B"/>
                </a:solidFill>
                <a:latin typeface="Arial"/>
                <a:cs typeface="Arial"/>
              </a:rPr>
              <a:t>DB)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17459" y="1068859"/>
          <a:ext cx="6118860" cy="111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5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9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Column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wallet_id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(PK)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(=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user_id)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36512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Wallet ID equals User ID — one wallet per user,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no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auto-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increment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current_balance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DOUBLE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Current money available in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wallet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83499" y="2303299"/>
            <a:ext cx="25012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Table</a:t>
            </a:r>
            <a:r>
              <a:rPr sz="1050" b="1" spc="-1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8:</a:t>
            </a:r>
            <a:r>
              <a:rPr sz="1050" b="1" spc="-1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statements</a:t>
            </a:r>
            <a:r>
              <a:rPr sz="1050" b="1" spc="-1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1A3A5B"/>
                </a:solidFill>
                <a:latin typeface="Arial"/>
                <a:cs typeface="Arial"/>
              </a:rPr>
              <a:t>(wallet-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service</a:t>
            </a:r>
            <a:r>
              <a:rPr sz="1050" b="1" spc="-1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spc="-25" dirty="0">
                <a:solidFill>
                  <a:srgbClr val="1A3A5B"/>
                </a:solidFill>
                <a:latin typeface="Arial"/>
                <a:cs typeface="Arial"/>
              </a:rPr>
              <a:t>DB)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17459" y="2516659"/>
          <a:ext cx="6118860" cy="2705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9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Column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statement_id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(PK)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16192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AUTO_INCRE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Unique transaction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wallet_id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(FK)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Which wallet this transaction belongs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transaction_type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Deposit (adding money) or Withdraw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(payment)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amount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DOUBLE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How much money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moved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date_time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DATETIME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Exact timestamp of the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transaction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order_id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(nullable)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Linked order ID (null for top-up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transactions)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transaction_remarks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Human-readable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description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(e.g.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'Order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#42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payment')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83499" y="5338599"/>
            <a:ext cx="23310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Table</a:t>
            </a:r>
            <a:r>
              <a:rPr sz="1050" b="1" spc="-1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9:</a:t>
            </a:r>
            <a:r>
              <a:rPr sz="1050" b="1" spc="-1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reviews</a:t>
            </a:r>
            <a:r>
              <a:rPr sz="1050" b="1" spc="-10" dirty="0">
                <a:solidFill>
                  <a:srgbClr val="1A3A5B"/>
                </a:solidFill>
                <a:latin typeface="Arial"/>
                <a:cs typeface="Arial"/>
              </a:rPr>
              <a:t> (review-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service</a:t>
            </a:r>
            <a:r>
              <a:rPr sz="1050" b="1" spc="-1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spc="-25" dirty="0">
                <a:solidFill>
                  <a:srgbClr val="1A3A5B"/>
                </a:solidFill>
                <a:latin typeface="Arial"/>
                <a:cs typeface="Arial"/>
              </a:rPr>
              <a:t>DB)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17459" y="5551959"/>
          <a:ext cx="6118860" cy="2705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9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Column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review_id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(PK)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16192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AUTO_INCRE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Unique review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book_id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Which book is being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reviewed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user_id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Who wrote the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review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rating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(1–5)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Star rating given by the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customer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comment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Review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text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review_date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DATE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When review was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submitted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verified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BOOLEAN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TRUE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only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if user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actually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purchased this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783499" y="8373899"/>
            <a:ext cx="301180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Table</a:t>
            </a:r>
            <a:r>
              <a:rPr sz="1050" b="1" spc="-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10:</a:t>
            </a:r>
            <a:r>
              <a:rPr sz="1050" b="1" spc="-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notifications</a:t>
            </a:r>
            <a:r>
              <a:rPr sz="1050" b="1" spc="-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(notification-service</a:t>
            </a:r>
            <a:r>
              <a:rPr sz="1050" b="1" spc="-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050" b="1" spc="-25" dirty="0">
                <a:solidFill>
                  <a:srgbClr val="1A3A5B"/>
                </a:solidFill>
                <a:latin typeface="Arial"/>
                <a:cs typeface="Arial"/>
              </a:rPr>
              <a:t>DB)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17459" y="8587260"/>
          <a:ext cx="6119494" cy="111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9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3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Column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notification_id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(PK)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176530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AUTO_INCREMENT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Unique notification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user_id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Which user this notification is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17459" y="865659"/>
          <a:ext cx="6119494" cy="1752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9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3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Column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type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65722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ORDER_PLACED, DISPATCHED,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DELIVERED,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PAYMENT, LOW_STOCK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etc.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message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The notification message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text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is_read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BOOLEAN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FALSE = unread (shows red badge); TRUE =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read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created_at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DATETIME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When notification was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created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83499" y="2735099"/>
            <a:ext cx="25527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Table 11: wishlists </a:t>
            </a:r>
            <a:r>
              <a:rPr sz="1050" b="1" spc="-10" dirty="0">
                <a:solidFill>
                  <a:srgbClr val="1A3A5B"/>
                </a:solidFill>
                <a:latin typeface="Arial"/>
                <a:cs typeface="Arial"/>
              </a:rPr>
              <a:t>(wishlist-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service </a:t>
            </a:r>
            <a:r>
              <a:rPr sz="1050" b="1" spc="-25" dirty="0">
                <a:solidFill>
                  <a:srgbClr val="1A3A5B"/>
                </a:solidFill>
                <a:latin typeface="Arial"/>
                <a:cs typeface="Arial"/>
              </a:rPr>
              <a:t>DB)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17459" y="2948459"/>
          <a:ext cx="6118860" cy="1435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9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Column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wishlist_id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(PK)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16192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AUTO_INCRE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Unique wishlist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user_id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Which user owns this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wishlist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created_at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DATE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When the wishlist was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created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83499" y="4500399"/>
            <a:ext cx="29013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Table 12: wishlist_items </a:t>
            </a:r>
            <a:r>
              <a:rPr sz="1050" b="1" spc="-10" dirty="0">
                <a:solidFill>
                  <a:srgbClr val="1A3A5B"/>
                </a:solidFill>
                <a:latin typeface="Arial"/>
                <a:cs typeface="Arial"/>
              </a:rPr>
              <a:t>(wishlist-</a:t>
            </a:r>
            <a:r>
              <a:rPr sz="1050" b="1" dirty="0">
                <a:solidFill>
                  <a:srgbClr val="1A3A5B"/>
                </a:solidFill>
                <a:latin typeface="Arial"/>
                <a:cs typeface="Arial"/>
              </a:rPr>
              <a:t>service </a:t>
            </a:r>
            <a:r>
              <a:rPr sz="1050" b="1" spc="-25" dirty="0">
                <a:solidFill>
                  <a:srgbClr val="1A3A5B"/>
                </a:solidFill>
                <a:latin typeface="Arial"/>
                <a:cs typeface="Arial"/>
              </a:rPr>
              <a:t>DB)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17459" y="4713759"/>
          <a:ext cx="6118860" cy="2070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9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Column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item_id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(PK)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16192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AUTO_INCRE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Unique wishlist item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wishlist_id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(FK)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Which wishlist this belongs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book_id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Reference to the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book_title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VARCHAR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 name stored for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display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book_price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DOUBLE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Price at the time it was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wishlisted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9999" y="868199"/>
            <a:ext cx="6120130" cy="533400"/>
          </a:xfrm>
          <a:custGeom>
            <a:avLst/>
            <a:gdLst/>
            <a:ahLst/>
            <a:cxnLst/>
            <a:rect l="l" t="t" r="r" b="b"/>
            <a:pathLst>
              <a:path w="6120130" h="533400">
                <a:moveTo>
                  <a:pt x="61200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533400"/>
                </a:lnTo>
                <a:lnTo>
                  <a:pt x="6120000" y="533400"/>
                </a:lnTo>
                <a:lnTo>
                  <a:pt x="6120000" y="0"/>
                </a:lnTo>
                <a:close/>
              </a:path>
            </a:pathLst>
          </a:custGeom>
          <a:solidFill>
            <a:srgbClr val="246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0499" y="982499"/>
            <a:ext cx="43802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5.</a:t>
            </a:r>
            <a:r>
              <a:rPr sz="17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Complete</a:t>
            </a:r>
            <a:r>
              <a:rPr sz="17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sz="17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Flow</a:t>
            </a:r>
            <a:r>
              <a:rPr sz="17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3499" y="1642899"/>
            <a:ext cx="275907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5.1</a:t>
            </a:r>
            <a:r>
              <a:rPr sz="1300" b="1" spc="-3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User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Registration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&amp;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Login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1A3A5B"/>
                </a:solidFill>
                <a:latin typeface="Arial"/>
                <a:cs typeface="Arial"/>
              </a:rPr>
              <a:t>Flow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17459" y="1932459"/>
          <a:ext cx="6120765" cy="2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4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6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2362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Step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What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Happens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Step </a:t>
                      </a: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 opens BookNest and clicks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Register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Step </a:t>
                      </a: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Fills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name, email,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password — form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submitted to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Angular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Step </a:t>
                      </a: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Angular calls POST /auth/register on auth-service (port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8081)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Step </a:t>
                      </a: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auth-service hashes password with bcrypt, saves to users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table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Step </a:t>
                      </a: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On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login, JWT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token is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generated (expires in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24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hours)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Step </a:t>
                      </a: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6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Token stored in Angular, sent in every API call as Authorization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header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Alt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GitHub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OAuth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—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clicks 'Login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GitHub',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redirected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to GitHub,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comes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back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token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83499" y="4716299"/>
            <a:ext cx="303466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5.2</a:t>
            </a:r>
            <a:r>
              <a:rPr sz="1300" b="1" spc="-4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Browsing</a:t>
            </a:r>
            <a:r>
              <a:rPr sz="1300" b="1" spc="-3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&amp;</a:t>
            </a:r>
            <a:r>
              <a:rPr sz="1300" b="1" spc="-3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Searching</a:t>
            </a:r>
            <a:r>
              <a:rPr sz="1300" b="1" spc="-3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Books</a:t>
            </a:r>
            <a:r>
              <a:rPr sz="1300" b="1" spc="-4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1A3A5B"/>
                </a:solidFill>
                <a:latin typeface="Arial"/>
                <a:cs typeface="Arial"/>
              </a:rPr>
              <a:t>Flow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9999" y="5008399"/>
            <a:ext cx="6120130" cy="1219200"/>
          </a:xfrm>
          <a:prstGeom prst="rect">
            <a:avLst/>
          </a:prstGeom>
          <a:solidFill>
            <a:srgbClr val="DBE9FD"/>
          </a:solidFill>
          <a:ln w="19050">
            <a:solidFill>
              <a:srgbClr val="2462EB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800"/>
              </a:spcBef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Searching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works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without</a:t>
            </a:r>
            <a:r>
              <a:rPr sz="1000" b="1" spc="-10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login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.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Guest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users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can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browse</a:t>
            </a:r>
            <a:r>
              <a:rPr sz="1000" spc="-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freely.</a:t>
            </a:r>
            <a:endParaRPr sz="1000">
              <a:latin typeface="Arial MT"/>
              <a:cs typeface="Arial MT"/>
            </a:endParaRPr>
          </a:p>
          <a:p>
            <a:pPr marL="152400">
              <a:lnSpc>
                <a:spcPct val="100000"/>
              </a:lnSpc>
              <a:spcBef>
                <a:spcPts val="400"/>
              </a:spcBef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Angular calls GET /books with query params like </a:t>
            </a:r>
            <a:r>
              <a:rPr sz="1000" b="1" spc="-10" dirty="0">
                <a:solidFill>
                  <a:srgbClr val="111826"/>
                </a:solidFill>
                <a:latin typeface="Arial"/>
                <a:cs typeface="Arial"/>
              </a:rPr>
              <a:t>?keyword=harry&amp;genre;=Fantasy</a:t>
            </a:r>
            <a:endParaRPr sz="1000">
              <a:latin typeface="Arial"/>
              <a:cs typeface="Arial"/>
            </a:endParaRPr>
          </a:p>
          <a:p>
            <a:pPr marL="152400" marR="144145">
              <a:lnSpc>
                <a:spcPct val="133300"/>
              </a:lnSpc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book-service</a:t>
            </a:r>
            <a:r>
              <a:rPr sz="1000" spc="5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searches</a:t>
            </a:r>
            <a:r>
              <a:rPr sz="1000" spc="5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MySQL</a:t>
            </a:r>
            <a:r>
              <a:rPr sz="1000" spc="5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using</a:t>
            </a:r>
            <a:r>
              <a:rPr sz="1000" spc="5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queries</a:t>
            </a:r>
            <a:r>
              <a:rPr sz="1000" spc="5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like</a:t>
            </a:r>
            <a:r>
              <a:rPr sz="1000" spc="5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findByTitle,</a:t>
            </a:r>
            <a:r>
              <a:rPr sz="1000" spc="5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findByAuthor,</a:t>
            </a:r>
            <a:r>
              <a:rPr sz="1000" spc="5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findByGenre,</a:t>
            </a:r>
            <a:r>
              <a:rPr sz="1000" spc="5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or</a:t>
            </a:r>
            <a:r>
              <a:rPr sz="1000" spc="5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</a:t>
            </a:r>
            <a:r>
              <a:rPr sz="1000" spc="5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keyword search.</a:t>
            </a:r>
            <a:endParaRPr sz="1000">
              <a:latin typeface="Arial MT"/>
              <a:cs typeface="Arial MT"/>
            </a:endParaRPr>
          </a:p>
          <a:p>
            <a:pPr marL="152400">
              <a:lnSpc>
                <a:spcPct val="100000"/>
              </a:lnSpc>
              <a:spcBef>
                <a:spcPts val="400"/>
              </a:spcBef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Results show book cards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with cover image,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price, rating, and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stock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status.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3499" y="6418099"/>
            <a:ext cx="420433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5.3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Add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to</a:t>
            </a:r>
            <a:r>
              <a:rPr sz="1300" b="1" spc="-2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Cart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A3A5B"/>
                </a:solidFill>
                <a:latin typeface="Symbol"/>
                <a:cs typeface="Symbol"/>
              </a:rPr>
              <a:t></a:t>
            </a:r>
            <a:r>
              <a:rPr sz="1300" spc="15" dirty="0">
                <a:solidFill>
                  <a:srgbClr val="1A3A5B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Checkout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1A3A5B"/>
                </a:solidFill>
                <a:latin typeface="Symbol"/>
                <a:cs typeface="Symbol"/>
              </a:rPr>
              <a:t></a:t>
            </a:r>
            <a:r>
              <a:rPr sz="1300" spc="10" dirty="0">
                <a:solidFill>
                  <a:srgbClr val="1A3A5B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Order</a:t>
            </a:r>
            <a:r>
              <a:rPr sz="1300" b="1" spc="-2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Placement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1A3A5B"/>
                </a:solidFill>
                <a:latin typeface="Arial"/>
                <a:cs typeface="Arial"/>
              </a:rPr>
              <a:t>Flow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17459" y="6707659"/>
          <a:ext cx="6120764" cy="2565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2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950">
                        <a:latin typeface="Arial"/>
                        <a:cs typeface="Arial"/>
                      </a:endParaRPr>
                    </a:p>
                    <a:p>
                      <a:pPr marL="115570" marR="107950" indent="16510" algn="just">
                        <a:lnSpc>
                          <a:spcPct val="113999"/>
                        </a:lnSpc>
                      </a:pPr>
                      <a:r>
                        <a:rPr sz="9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 e p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What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Happens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594360">
                        <a:lnSpc>
                          <a:spcPct val="100000"/>
                        </a:lnSpc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Service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Involved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Customer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clicks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'Add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Cart'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on a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detail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page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Angular calls POST /cart/{userId}/add with bookId +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quantity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cart-service creates/updates Cart &amp; CartItem, recalculates total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price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cart-service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DB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Customer goes to cart page, reviews items, clicks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Checkout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Angular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31115" algn="ctr">
                        <a:lnSpc>
                          <a:spcPct val="100000"/>
                        </a:lnSpc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132080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Customer enters delivery address and selects payment mode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(COD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Online)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booknest-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web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17459" y="865659"/>
          <a:ext cx="6120764" cy="4546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2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950">
                        <a:latin typeface="Arial"/>
                        <a:cs typeface="Arial"/>
                      </a:endParaRPr>
                    </a:p>
                    <a:p>
                      <a:pPr marL="115570" marR="107950" indent="16510" algn="just">
                        <a:lnSpc>
                          <a:spcPct val="113999"/>
                        </a:lnSpc>
                      </a:pPr>
                      <a:r>
                        <a:rPr sz="9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 e p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What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Happens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594360">
                        <a:lnSpc>
                          <a:spcPct val="100000"/>
                        </a:lnSpc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Service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Involved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81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6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marL="101600" marR="107314" algn="just">
                        <a:lnSpc>
                          <a:spcPct val="120400"/>
                        </a:lnSpc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900" spc="5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</a:t>
                      </a:r>
                      <a:r>
                        <a:rPr sz="900" spc="5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r>
                        <a:rPr sz="900" spc="5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</a:t>
                      </a:r>
                      <a:r>
                        <a:rPr sz="900" spc="5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 marR="274955">
                        <a:lnSpc>
                          <a:spcPct val="1204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POST /orders/place — order saved with status=Placed, no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wallet deduction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81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6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marL="101600" marR="107314" algn="just">
                        <a:lnSpc>
                          <a:spcPct val="120400"/>
                        </a:lnSpc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r>
                        <a:rPr sz="900" spc="5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</a:t>
                      </a:r>
                      <a:r>
                        <a:rPr sz="900" spc="5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marL="101600" marR="94615" algn="just">
                        <a:lnSpc>
                          <a:spcPct val="120400"/>
                        </a:lnSpc>
                      </a:pP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nl in e)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 marR="474980">
                        <a:lnSpc>
                          <a:spcPct val="1204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POST /orders/online — calls wallet-service to check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balance,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deducts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money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order-service + wallet-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order-service publishes OrderEvent to RabbitMQ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queue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RabbitMQ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31115" algn="ctr">
                        <a:lnSpc>
                          <a:spcPct val="100000"/>
                        </a:lnSpc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172720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notification-service consumes the event, saves in-app notification </a:t>
                      </a: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+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sends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email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notification-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 is cleared after successful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83499" y="5656099"/>
            <a:ext cx="137414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5.4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E-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Wallet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1A3A5B"/>
                </a:solidFill>
                <a:latin typeface="Arial"/>
                <a:cs typeface="Arial"/>
              </a:rPr>
              <a:t>Flow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17459" y="5945659"/>
          <a:ext cx="6120130" cy="3670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4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950">
                        <a:latin typeface="Arial"/>
                        <a:cs typeface="Arial"/>
                      </a:endParaRPr>
                    </a:p>
                    <a:p>
                      <a:pPr marL="115570" marR="107950" indent="16510" algn="just">
                        <a:lnSpc>
                          <a:spcPct val="113999"/>
                        </a:lnSpc>
                      </a:pPr>
                      <a:r>
                        <a:rPr sz="9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 e p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What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Happens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When user registers, a wallet is auto-created with walletId = userId and balance = </a:t>
                      </a: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Customer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goes to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Wallet page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sz="900" spc="25" dirty="0">
                          <a:solidFill>
                            <a:srgbClr val="11182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clicks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'Add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Money'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Razorpay payment popup opens (real payment gateway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integration)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After successful Razorpay payment, wallet-service records a Deposit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Statement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Current balance increases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accordingly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6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When placing an online order, order-service calls wallet-service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/wallet/{id}/pay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wallet-service checks: if balance &gt;= order amount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sz="900" spc="25" dirty="0">
                          <a:solidFill>
                            <a:srgbClr val="11182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deduct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sz="900" spc="25" dirty="0">
                          <a:solidFill>
                            <a:srgbClr val="11182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record Withdraw Statement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sz="900" spc="25" dirty="0">
                          <a:solidFill>
                            <a:srgbClr val="11182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return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success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If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balance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less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sz="900" spc="20" dirty="0">
                          <a:solidFill>
                            <a:srgbClr val="11182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return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error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'Insufficient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balance'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sz="900" spc="20" dirty="0">
                          <a:solidFill>
                            <a:srgbClr val="11182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not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placed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Customer can view full transaction history with type, amount, date, remarks on Statements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page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499" y="855499"/>
            <a:ext cx="190627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5.5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Order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Tracking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1A3A5B"/>
                </a:solidFill>
                <a:latin typeface="Arial"/>
                <a:cs typeface="Arial"/>
              </a:rPr>
              <a:t>Flow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16824" y="1144424"/>
          <a:ext cx="6121398" cy="50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4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2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139065" marR="131445" indent="278130">
                        <a:lnSpc>
                          <a:spcPct val="113999"/>
                        </a:lnSpc>
                        <a:spcBef>
                          <a:spcPts val="540"/>
                        </a:spcBef>
                      </a:pPr>
                      <a:r>
                        <a:rPr sz="95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Placed </a:t>
                      </a:r>
                      <a:r>
                        <a:rPr sz="950" b="1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Order</a:t>
                      </a:r>
                      <a:r>
                        <a:rPr sz="950" b="1" spc="-3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5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confirmed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2462EB"/>
                    </a:solidFill>
                  </a:tcPr>
                </a:tc>
                <a:tc>
                  <a:txBody>
                    <a:bodyPr/>
                    <a:lstStyle/>
                    <a:p>
                      <a:pPr marL="186055" marR="178435" indent="123825">
                        <a:lnSpc>
                          <a:spcPct val="113999"/>
                        </a:lnSpc>
                        <a:spcBef>
                          <a:spcPts val="540"/>
                        </a:spcBef>
                      </a:pPr>
                      <a:r>
                        <a:rPr sz="95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Confirmed </a:t>
                      </a:r>
                      <a:r>
                        <a:rPr sz="950" b="1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Admin </a:t>
                      </a:r>
                      <a:r>
                        <a:rPr sz="95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reviews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262890" marR="255904" indent="22860">
                        <a:lnSpc>
                          <a:spcPct val="113999"/>
                        </a:lnSpc>
                        <a:spcBef>
                          <a:spcPts val="540"/>
                        </a:spcBef>
                      </a:pPr>
                      <a:r>
                        <a:rPr sz="95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Dispatched </a:t>
                      </a:r>
                      <a:r>
                        <a:rPr sz="950" b="1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Shipped </a:t>
                      </a:r>
                      <a:r>
                        <a:rPr sz="950" b="1" spc="-25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out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F49E0A"/>
                    </a:solidFill>
                  </a:tcPr>
                </a:tc>
                <a:tc>
                  <a:txBody>
                    <a:bodyPr/>
                    <a:lstStyle/>
                    <a:p>
                      <a:pPr marL="346710" marR="332740" indent="-6985">
                        <a:lnSpc>
                          <a:spcPct val="113999"/>
                        </a:lnSpc>
                        <a:spcBef>
                          <a:spcPts val="540"/>
                        </a:spcBef>
                      </a:pPr>
                      <a:r>
                        <a:rPr sz="95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Delivered Received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16A349"/>
                    </a:solidFill>
                  </a:tcPr>
                </a:tc>
                <a:tc>
                  <a:txBody>
                    <a:bodyPr/>
                    <a:lstStyle/>
                    <a:p>
                      <a:pPr marL="269875" marR="262255" indent="56515">
                        <a:lnSpc>
                          <a:spcPct val="113999"/>
                        </a:lnSpc>
                        <a:spcBef>
                          <a:spcPts val="540"/>
                        </a:spcBef>
                      </a:pPr>
                      <a:r>
                        <a:rPr sz="95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Cancelled </a:t>
                      </a:r>
                      <a:r>
                        <a:rPr sz="950" b="1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If </a:t>
                      </a:r>
                      <a:r>
                        <a:rPr sz="95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requested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B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19999" y="1757199"/>
            <a:ext cx="6120130" cy="609600"/>
          </a:xfrm>
          <a:prstGeom prst="rect">
            <a:avLst/>
          </a:prstGeom>
          <a:solidFill>
            <a:srgbClr val="DBE9FD"/>
          </a:solidFill>
          <a:ln w="19050">
            <a:solidFill>
              <a:srgbClr val="2462EB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800"/>
              </a:spcBef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Admin</a:t>
            </a:r>
            <a:r>
              <a:rPr sz="1000" spc="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changes</a:t>
            </a:r>
            <a:r>
              <a:rPr sz="1000" spc="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status</a:t>
            </a:r>
            <a:r>
              <a:rPr sz="1000" spc="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from</a:t>
            </a:r>
            <a:r>
              <a:rPr sz="1000" spc="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their</a:t>
            </a:r>
            <a:r>
              <a:rPr sz="1000" spc="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dashboard</a:t>
            </a:r>
            <a:r>
              <a:rPr sz="1000" spc="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Symbol"/>
                <a:cs typeface="Symbol"/>
              </a:rPr>
              <a:t></a:t>
            </a:r>
            <a:r>
              <a:rPr sz="1000" spc="120" dirty="0">
                <a:solidFill>
                  <a:srgbClr val="111826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order-service</a:t>
            </a:r>
            <a:r>
              <a:rPr sz="1000" spc="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updates</a:t>
            </a:r>
            <a:r>
              <a:rPr sz="1000" spc="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DB</a:t>
            </a:r>
            <a:r>
              <a:rPr sz="1000" spc="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Symbol"/>
                <a:cs typeface="Symbol"/>
              </a:rPr>
              <a:t></a:t>
            </a:r>
            <a:r>
              <a:rPr sz="1000" spc="114" dirty="0">
                <a:solidFill>
                  <a:srgbClr val="111826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RabbitMQ</a:t>
            </a:r>
            <a:r>
              <a:rPr sz="1000" spc="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event</a:t>
            </a:r>
            <a:r>
              <a:rPr sz="1000" spc="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fired</a:t>
            </a:r>
            <a:r>
              <a:rPr sz="1000" spc="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11826"/>
                </a:solidFill>
                <a:latin typeface="Symbol"/>
                <a:cs typeface="Symbol"/>
              </a:rPr>
              <a:t></a:t>
            </a:r>
            <a:endParaRPr sz="1000">
              <a:latin typeface="Symbol"/>
              <a:cs typeface="Symbol"/>
            </a:endParaRPr>
          </a:p>
          <a:p>
            <a:pPr marL="152400">
              <a:lnSpc>
                <a:spcPct val="100000"/>
              </a:lnSpc>
              <a:spcBef>
                <a:spcPts val="400"/>
              </a:spcBef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notification-service sends 'Your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order has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been dispatched!' email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+ in-app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alert to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customer.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3499" y="2557299"/>
            <a:ext cx="129222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5.6</a:t>
            </a:r>
            <a:r>
              <a:rPr sz="1300" b="1" spc="-3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Review</a:t>
            </a:r>
            <a:r>
              <a:rPr sz="1300" b="1" spc="-3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1A3A5B"/>
                </a:solidFill>
                <a:latin typeface="Arial"/>
                <a:cs typeface="Arial"/>
              </a:rPr>
              <a:t>Flow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17459" y="2846859"/>
          <a:ext cx="6120130" cy="2717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4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950">
                        <a:latin typeface="Arial"/>
                        <a:cs typeface="Arial"/>
                      </a:endParaRPr>
                    </a:p>
                    <a:p>
                      <a:pPr marL="115570" marR="107950" indent="16510" algn="just">
                        <a:lnSpc>
                          <a:spcPct val="113999"/>
                        </a:lnSpc>
                      </a:pPr>
                      <a:r>
                        <a:rPr sz="9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 e p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What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Happens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After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delivery, customer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goes to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 history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and clicks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'Write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Review'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review-service checks if userId + bookId combo exists in orders table (via API call)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sz="900" spc="25" dirty="0">
                          <a:solidFill>
                            <a:srgbClr val="11182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verified=true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Customer gives 1–5 stars + writes comment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sz="900" spc="25" dirty="0">
                          <a:solidFill>
                            <a:srgbClr val="11182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POST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/reviews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Review saved in reviews table with verified=true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flag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Average rating for the book is recomputed and can be pushed back to book-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6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Admin can see all reviews and moderate (remove inappropriate ones) from admin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panel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9999" y="868199"/>
            <a:ext cx="6120130" cy="533400"/>
          </a:xfrm>
          <a:custGeom>
            <a:avLst/>
            <a:gdLst/>
            <a:ahLst/>
            <a:cxnLst/>
            <a:rect l="l" t="t" r="r" b="b"/>
            <a:pathLst>
              <a:path w="6120130" h="533400">
                <a:moveTo>
                  <a:pt x="61200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533400"/>
                </a:lnTo>
                <a:lnTo>
                  <a:pt x="6120000" y="533400"/>
                </a:lnTo>
                <a:lnTo>
                  <a:pt x="6120000" y="0"/>
                </a:lnTo>
                <a:close/>
              </a:path>
            </a:pathLst>
          </a:custGeom>
          <a:solidFill>
            <a:srgbClr val="1A3A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0499" y="982499"/>
            <a:ext cx="46215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6.</a:t>
            </a:r>
            <a:r>
              <a:rPr sz="17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sz="17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Microservice</a:t>
            </a:r>
            <a:r>
              <a:rPr sz="17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17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Detailed</a:t>
            </a:r>
            <a:r>
              <a:rPr sz="17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Arial"/>
                <a:cs typeface="Arial"/>
              </a:rPr>
              <a:t>Explanation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3499" y="1642899"/>
            <a:ext cx="217297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6.1</a:t>
            </a:r>
            <a:r>
              <a:rPr sz="1300" b="1" spc="-3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auth-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service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(Port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8081)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9999" y="1934999"/>
            <a:ext cx="6120130" cy="609600"/>
          </a:xfrm>
          <a:prstGeom prst="rect">
            <a:avLst/>
          </a:prstGeom>
          <a:solidFill>
            <a:srgbClr val="DBE9FD"/>
          </a:solidFill>
          <a:ln w="19050">
            <a:solidFill>
              <a:srgbClr val="2462EB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52400" marR="144145">
              <a:lnSpc>
                <a:spcPct val="133300"/>
              </a:lnSpc>
              <a:spcBef>
                <a:spcPts val="400"/>
              </a:spcBef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Handles</a:t>
            </a:r>
            <a:r>
              <a:rPr sz="1000" spc="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everything</a:t>
            </a:r>
            <a:r>
              <a:rPr sz="1000" spc="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about</a:t>
            </a:r>
            <a:r>
              <a:rPr sz="1000" spc="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users</a:t>
            </a:r>
            <a:r>
              <a:rPr sz="1000" spc="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—</a:t>
            </a:r>
            <a:r>
              <a:rPr sz="1000" spc="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registration,</a:t>
            </a:r>
            <a:r>
              <a:rPr sz="1000" spc="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login,</a:t>
            </a:r>
            <a:r>
              <a:rPr sz="1000" spc="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logout,</a:t>
            </a:r>
            <a:r>
              <a:rPr sz="1000" spc="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JWT</a:t>
            </a:r>
            <a:r>
              <a:rPr sz="1000" spc="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tokens,</a:t>
            </a:r>
            <a:r>
              <a:rPr sz="1000" spc="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GitHub</a:t>
            </a:r>
            <a:r>
              <a:rPr sz="1000" spc="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OAuth,</a:t>
            </a:r>
            <a:r>
              <a:rPr sz="1000" spc="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OTP-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based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password reset,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and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email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verification.</a:t>
            </a:r>
            <a:endParaRPr sz="100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13649" y="2614449"/>
          <a:ext cx="6119495" cy="1079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5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3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DB</a:t>
                      </a:r>
                      <a:r>
                        <a:rPr sz="900" b="1" spc="-20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Entities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E2E8EF"/>
                      </a:solidFill>
                      <a:prstDash val="solid"/>
                    </a:lnR>
                    <a:lnT w="1270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439420">
                        <a:lnSpc>
                          <a:spcPct val="1204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 table: userId, fullName, email, passwordHash, role, provider,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mobile, createdAt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2E8EF"/>
                      </a:solidFill>
                      <a:prstDash val="solid"/>
                    </a:lnL>
                    <a:lnR w="12700">
                      <a:solidFill>
                        <a:srgbClr val="CAD4E1"/>
                      </a:solidFill>
                      <a:prstDash val="solid"/>
                    </a:lnR>
                    <a:lnT w="1270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Special </a:t>
                      </a:r>
                      <a:r>
                        <a:rPr sz="900" b="1" spc="-10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Logic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E2E8EF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12700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217170">
                        <a:lnSpc>
                          <a:spcPct val="1204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OtpStore class keeps OTPs in memory with expiry. EmailService sends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HTML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emails using JavaMailSender. OAuthSuccessHandler creates a user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account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from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GitHub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profile if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first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login.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2E8EF"/>
                      </a:solidFill>
                      <a:prstDash val="solid"/>
                    </a:lnL>
                    <a:lnR w="1270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12700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13649" y="3795549"/>
          <a:ext cx="6120130" cy="1866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POST /auth/register — Create new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account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2462EB"/>
                      </a:solidFill>
                      <a:prstDash val="solid"/>
                    </a:lnL>
                    <a:lnR w="12700">
                      <a:solidFill>
                        <a:srgbClr val="2462EB"/>
                      </a:solidFill>
                      <a:prstDash val="solid"/>
                    </a:lnR>
                    <a:lnT w="12700">
                      <a:solidFill>
                        <a:srgbClr val="2462EB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POST /auth/login — Login with email/password, returns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JWT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2462EB"/>
                      </a:solidFill>
                      <a:prstDash val="solid"/>
                    </a:lnL>
                    <a:lnR w="12700">
                      <a:solidFill>
                        <a:srgbClr val="2462EB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GET /auth/profile/{id} — Get user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profile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2462EB"/>
                      </a:solidFill>
                      <a:prstDash val="solid"/>
                    </a:lnL>
                    <a:lnR w="12700">
                      <a:solidFill>
                        <a:srgbClr val="2462EB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PUT /auth/profile — Update profile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details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2462EB"/>
                      </a:solidFill>
                      <a:prstDash val="solid"/>
                    </a:lnL>
                    <a:lnR w="12700">
                      <a:solidFill>
                        <a:srgbClr val="2462EB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POST /auth/forgot-password — Trigger OTP email for password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reset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2462EB"/>
                      </a:solidFill>
                      <a:prstDash val="solid"/>
                    </a:lnL>
                    <a:lnR w="12700">
                      <a:solidFill>
                        <a:srgbClr val="2462EB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POST /auth/reset-password — Reset password with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OTP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2462EB"/>
                      </a:solidFill>
                      <a:prstDash val="solid"/>
                    </a:lnL>
                    <a:lnR w="12700">
                      <a:solidFill>
                        <a:srgbClr val="2462EB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GET /oauth2/authorization/github — Start GitHub OAuth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flow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2462EB"/>
                      </a:solidFill>
                      <a:prstDash val="solid"/>
                    </a:lnL>
                    <a:lnR w="12700">
                      <a:solidFill>
                        <a:srgbClr val="2462EB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12700">
                      <a:solidFill>
                        <a:srgbClr val="2462EB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783499" y="5935499"/>
            <a:ext cx="221869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6.2</a:t>
            </a:r>
            <a:r>
              <a:rPr sz="1300" b="1" spc="-3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book-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service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(Port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8082)</a:t>
            </a:r>
            <a:endParaRPr sz="1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9999" y="6227599"/>
            <a:ext cx="6120130" cy="609600"/>
          </a:xfrm>
          <a:prstGeom prst="rect">
            <a:avLst/>
          </a:prstGeom>
          <a:solidFill>
            <a:srgbClr val="DBFBE6"/>
          </a:solidFill>
          <a:ln w="19050">
            <a:solidFill>
              <a:srgbClr val="16A349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52400" marR="144145">
              <a:lnSpc>
                <a:spcPct val="133300"/>
              </a:lnSpc>
              <a:spcBef>
                <a:spcPts val="400"/>
              </a:spcBef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Manages</a:t>
            </a:r>
            <a:r>
              <a:rPr sz="1000" spc="3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the</a:t>
            </a:r>
            <a:r>
              <a:rPr sz="1000" spc="3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entire</a:t>
            </a:r>
            <a:r>
              <a:rPr sz="1000" spc="3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book</a:t>
            </a:r>
            <a:r>
              <a:rPr sz="1000" spc="3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catalog.</a:t>
            </a:r>
            <a:r>
              <a:rPr sz="1000" spc="3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Admin</a:t>
            </a:r>
            <a:r>
              <a:rPr sz="1000" spc="3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adds/edits/deletes</a:t>
            </a:r>
            <a:r>
              <a:rPr sz="1000" spc="3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books.</a:t>
            </a:r>
            <a:r>
              <a:rPr sz="1000" spc="3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Customers</a:t>
            </a:r>
            <a:r>
              <a:rPr sz="1000" spc="3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and</a:t>
            </a:r>
            <a:r>
              <a:rPr sz="1000" spc="3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guests</a:t>
            </a:r>
            <a:r>
              <a:rPr sz="1000" spc="3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can</a:t>
            </a:r>
            <a:r>
              <a:rPr sz="1000" spc="3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browse,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search,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and</a:t>
            </a:r>
            <a:r>
              <a:rPr sz="1000" spc="1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filter.</a:t>
            </a:r>
            <a:endParaRPr sz="1000">
              <a:latin typeface="Arial MT"/>
              <a:cs typeface="Arial MT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13649" y="6907049"/>
          <a:ext cx="6119495" cy="1079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5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3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DB</a:t>
                      </a:r>
                      <a:r>
                        <a:rPr sz="900" b="1" spc="-20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Entities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E2E8EF"/>
                      </a:solidFill>
                      <a:prstDash val="solid"/>
                    </a:lnR>
                    <a:lnT w="1270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419734">
                        <a:lnSpc>
                          <a:spcPct val="1204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 table: bookId, title, author, isbn, genre, publisher, price, stock,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rating,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description, coverImageUrl, publishedDate,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featured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2E8EF"/>
                      </a:solidFill>
                      <a:prstDash val="solid"/>
                    </a:lnL>
                    <a:lnR w="12700">
                      <a:solidFill>
                        <a:srgbClr val="CAD4E1"/>
                      </a:solidFill>
                      <a:prstDash val="solid"/>
                    </a:lnR>
                    <a:lnT w="1270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Special </a:t>
                      </a:r>
                      <a:r>
                        <a:rPr sz="900" b="1" spc="-10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Logic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E2E8EF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12700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229235">
                        <a:lnSpc>
                          <a:spcPct val="1204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ImageUploadResource handles multipart file uploads and serves images via </a:t>
                      </a:r>
                      <a:r>
                        <a:rPr sz="900" spc="-5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static resource handler (ImageServeConfig). Stock check is done here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before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placement.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2E8EF"/>
                      </a:solidFill>
                      <a:prstDash val="solid"/>
                    </a:lnL>
                    <a:lnR w="1270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12700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13649" y="8088149"/>
          <a:ext cx="6120130" cy="1600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GET /books — Get all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16A349"/>
                      </a:solidFill>
                      <a:prstDash val="solid"/>
                    </a:lnL>
                    <a:lnR w="12700">
                      <a:solidFill>
                        <a:srgbClr val="16A349"/>
                      </a:solidFill>
                      <a:prstDash val="solid"/>
                    </a:lnR>
                    <a:lnT w="12700">
                      <a:solidFill>
                        <a:srgbClr val="16A349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GET /books/{id} — Get single book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detail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16A349"/>
                      </a:solidFill>
                      <a:prstDash val="solid"/>
                    </a:lnL>
                    <a:lnR w="12700">
                      <a:solidFill>
                        <a:srgbClr val="16A349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GET /books/search?keyword=X — Full text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search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16A349"/>
                      </a:solidFill>
                      <a:prstDash val="solid"/>
                    </a:lnL>
                    <a:lnR w="12700">
                      <a:solidFill>
                        <a:srgbClr val="16A349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GET /books/genre/{genre} — Filter by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genre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16A349"/>
                      </a:solidFill>
                      <a:prstDash val="solid"/>
                    </a:lnL>
                    <a:lnR w="12700">
                      <a:solidFill>
                        <a:srgbClr val="16A349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GET /books/featured — Get featured books for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homepage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16A349"/>
                      </a:solidFill>
                      <a:prstDash val="solid"/>
                    </a:lnL>
                    <a:lnR w="12700">
                      <a:solidFill>
                        <a:srgbClr val="16A349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POST /books — Admin adds a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16A349"/>
                      </a:solidFill>
                      <a:prstDash val="solid"/>
                    </a:lnL>
                    <a:lnR w="12700">
                      <a:solidFill>
                        <a:srgbClr val="16A349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13649" y="861849"/>
          <a:ext cx="6120130" cy="106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PUT /books — Admin updates book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details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16A349"/>
                      </a:solidFill>
                      <a:prstDash val="solid"/>
                    </a:lnL>
                    <a:lnR w="12700">
                      <a:solidFill>
                        <a:srgbClr val="16A349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PUT /books/stock/{id}/{qty} — Admin updates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stock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16A349"/>
                      </a:solidFill>
                      <a:prstDash val="solid"/>
                    </a:lnL>
                    <a:lnR w="12700">
                      <a:solidFill>
                        <a:srgbClr val="16A349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DELETE /books/{id} — Admin removes a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16A349"/>
                      </a:solidFill>
                      <a:prstDash val="solid"/>
                    </a:lnL>
                    <a:lnR w="12700">
                      <a:solidFill>
                        <a:srgbClr val="16A349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POST /upload/image — Upload book cover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image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16A349"/>
                      </a:solidFill>
                      <a:prstDash val="solid"/>
                    </a:lnL>
                    <a:lnR w="12700">
                      <a:solidFill>
                        <a:srgbClr val="16A349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12700">
                      <a:solidFill>
                        <a:srgbClr val="16A349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83499" y="2201699"/>
            <a:ext cx="212725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6.3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cart-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service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(Port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8083)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999" y="2493799"/>
            <a:ext cx="6120130" cy="609600"/>
          </a:xfrm>
          <a:prstGeom prst="rect">
            <a:avLst/>
          </a:prstGeom>
          <a:solidFill>
            <a:srgbClr val="EDE8FD"/>
          </a:solidFill>
          <a:ln w="19050">
            <a:solidFill>
              <a:srgbClr val="7C3AED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52400" marR="144145">
              <a:lnSpc>
                <a:spcPct val="133300"/>
              </a:lnSpc>
              <a:spcBef>
                <a:spcPts val="400"/>
              </a:spcBef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Manages</a:t>
            </a:r>
            <a:r>
              <a:rPr sz="1000" spc="1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each</a:t>
            </a:r>
            <a:r>
              <a:rPr sz="1000" spc="1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customer's</a:t>
            </a:r>
            <a:r>
              <a:rPr sz="1000" spc="1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shopping</a:t>
            </a:r>
            <a:r>
              <a:rPr sz="1000" spc="1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cart.</a:t>
            </a:r>
            <a:r>
              <a:rPr sz="1000" spc="1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Cart</a:t>
            </a:r>
            <a:r>
              <a:rPr sz="1000" spc="1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persists</a:t>
            </a:r>
            <a:r>
              <a:rPr sz="1000" spc="1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across</a:t>
            </a:r>
            <a:r>
              <a:rPr sz="1000" spc="1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sessions</a:t>
            </a:r>
            <a:r>
              <a:rPr sz="1000" spc="1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(stored</a:t>
            </a:r>
            <a:r>
              <a:rPr sz="1000" spc="1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in</a:t>
            </a:r>
            <a:r>
              <a:rPr sz="1000" spc="1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DB,</a:t>
            </a:r>
            <a:r>
              <a:rPr sz="1000" spc="1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not</a:t>
            </a:r>
            <a:r>
              <a:rPr sz="1000" spc="1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browser storage).</a:t>
            </a:r>
            <a:endParaRPr sz="10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13649" y="3173249"/>
          <a:ext cx="6119495" cy="1079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5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3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DB</a:t>
                      </a:r>
                      <a:r>
                        <a:rPr sz="900" b="1" spc="-20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Entities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E2E8EF"/>
                      </a:solidFill>
                      <a:prstDash val="solid"/>
                    </a:lnR>
                    <a:lnT w="1270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464184">
                        <a:lnSpc>
                          <a:spcPct val="1204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 table: cartId, userId, totalPrice. CartItem table: itemId, cartId,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bookId,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bookTitle, price,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quantity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2E8EF"/>
                      </a:solidFill>
                      <a:prstDash val="solid"/>
                    </a:lnL>
                    <a:lnR w="12700">
                      <a:solidFill>
                        <a:srgbClr val="CAD4E1"/>
                      </a:solidFill>
                      <a:prstDash val="solid"/>
                    </a:lnR>
                    <a:lnT w="1270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Special </a:t>
                      </a:r>
                      <a:r>
                        <a:rPr sz="900" b="1" spc="-10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Logic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E2E8EF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12700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67945" algn="just">
                        <a:lnSpc>
                          <a:spcPct val="1204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totalPrice is recalculated every time an item is added/updated/removed.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CartItem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stores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bookTitle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price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at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time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adding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—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so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even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if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admin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changes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price later, cart shows original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price.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2E8EF"/>
                      </a:solidFill>
                      <a:prstDash val="solid"/>
                    </a:lnL>
                    <a:lnR w="1270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12700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13649" y="4354349"/>
          <a:ext cx="6120130" cy="1600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GET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/cart/{userId}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— Get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user's cart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all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items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7C3AED"/>
                      </a:solidFill>
                      <a:prstDash val="solid"/>
                    </a:lnL>
                    <a:lnR w="12700">
                      <a:solidFill>
                        <a:srgbClr val="7C3AED"/>
                      </a:solidFill>
                      <a:prstDash val="solid"/>
                    </a:lnR>
                    <a:lnT w="12700">
                      <a:solidFill>
                        <a:srgbClr val="7C3AED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POST /cart/{userId}/add — Add a book to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7C3AED"/>
                      </a:solidFill>
                      <a:prstDash val="solid"/>
                    </a:lnL>
                    <a:lnR w="12700">
                      <a:solidFill>
                        <a:srgbClr val="7C3AED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DELETE /cart/{userId}/remove/{itemId} — Remove one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item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7C3AED"/>
                      </a:solidFill>
                      <a:prstDash val="solid"/>
                    </a:lnL>
                    <a:lnR w="12700">
                      <a:solidFill>
                        <a:srgbClr val="7C3AED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PUT /cart/{userId}/update — Change quantity of an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item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7C3AED"/>
                      </a:solidFill>
                      <a:prstDash val="solid"/>
                    </a:lnL>
                    <a:lnR w="12700">
                      <a:solidFill>
                        <a:srgbClr val="7C3AED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DELETE /cart/{userId}/clear — Empty the entire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7C3AED"/>
                      </a:solidFill>
                      <a:prstDash val="solid"/>
                    </a:lnL>
                    <a:lnR w="12700">
                      <a:solidFill>
                        <a:srgbClr val="7C3AED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GET /cart/all — Admin sees all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7C3AED"/>
                      </a:solidFill>
                      <a:prstDash val="solid"/>
                    </a:lnL>
                    <a:lnR w="12700">
                      <a:solidFill>
                        <a:srgbClr val="7C3AED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12700">
                      <a:solidFill>
                        <a:srgbClr val="7C3AED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3499" y="6227599"/>
            <a:ext cx="224663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6.4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order-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service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(Port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8084)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9999" y="6519699"/>
            <a:ext cx="6120130" cy="609600"/>
          </a:xfrm>
          <a:prstGeom prst="rect">
            <a:avLst/>
          </a:prstGeom>
          <a:solidFill>
            <a:srgbClr val="FFEDD4"/>
          </a:solidFill>
          <a:ln w="19050">
            <a:solidFill>
              <a:srgbClr val="E9570C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52400" marR="144145">
              <a:lnSpc>
                <a:spcPct val="133300"/>
              </a:lnSpc>
              <a:spcBef>
                <a:spcPts val="400"/>
              </a:spcBef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The</a:t>
            </a:r>
            <a:r>
              <a:rPr sz="1000" spc="11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heart</a:t>
            </a:r>
            <a:r>
              <a:rPr sz="1000" spc="11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of</a:t>
            </a:r>
            <a:r>
              <a:rPr sz="1000" spc="114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the</a:t>
            </a:r>
            <a:r>
              <a:rPr sz="1000" spc="11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purchase</a:t>
            </a:r>
            <a:r>
              <a:rPr sz="1000" spc="11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flow.</a:t>
            </a:r>
            <a:r>
              <a:rPr sz="1000" spc="114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Handles</a:t>
            </a:r>
            <a:r>
              <a:rPr sz="1000" spc="11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placing</a:t>
            </a:r>
            <a:r>
              <a:rPr sz="1000" spc="11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orders,</a:t>
            </a:r>
            <a:r>
              <a:rPr sz="1000" spc="114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two</a:t>
            </a:r>
            <a:r>
              <a:rPr sz="1000" spc="11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payment</a:t>
            </a:r>
            <a:r>
              <a:rPr sz="1000" spc="11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modes,</a:t>
            </a:r>
            <a:r>
              <a:rPr sz="1000" spc="114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address</a:t>
            </a:r>
            <a:r>
              <a:rPr sz="1000" spc="11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management,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status updates,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and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invoice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viewing.</a:t>
            </a:r>
            <a:endParaRPr sz="1000">
              <a:latin typeface="Arial MT"/>
              <a:cs typeface="Arial MT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13649" y="7199149"/>
          <a:ext cx="6119495" cy="1409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5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3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DB</a:t>
                      </a:r>
                      <a:r>
                        <a:rPr sz="900" b="1" spc="-20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Entities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E2E8EF"/>
                      </a:solidFill>
                      <a:prstDash val="solid"/>
                    </a:lnR>
                    <a:lnT w="1270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203200">
                        <a:lnSpc>
                          <a:spcPct val="1204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 table: orderId, userId, orderDate, amountPaid,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modeOfPayment,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orderStatus, quantity, bookId, bookTitle, address_id. Address table: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addressId,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customerId, fullName, mobileNumber, flatNumber, city, pincode,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state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2E8EF"/>
                      </a:solidFill>
                      <a:prstDash val="solid"/>
                    </a:lnL>
                    <a:lnR w="12700">
                      <a:solidFill>
                        <a:srgbClr val="CAD4E1"/>
                      </a:solidFill>
                      <a:prstDash val="solid"/>
                    </a:lnR>
                    <a:lnT w="1270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Special </a:t>
                      </a:r>
                      <a:r>
                        <a:rPr sz="900" b="1" spc="-10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Logic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E2E8EF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12700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260985">
                        <a:lnSpc>
                          <a:spcPct val="1204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After order placement, OrderEventPublisher sends message to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RabbitMQ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(booknest.order.events queue). OrderEmailService sends HTML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confirmation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emails directly. ACID transaction ensures wallet deduction and order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creation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happen together — if wallet deduction fails, order is not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created.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2E8EF"/>
                      </a:solidFill>
                      <a:prstDash val="solid"/>
                    </a:lnL>
                    <a:lnR w="1270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12700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13649" y="8710449"/>
          <a:ext cx="6120130" cy="106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POST /orders/place — Place COD order (no wallet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deduction)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E9570C"/>
                      </a:solidFill>
                      <a:prstDash val="solid"/>
                    </a:lnL>
                    <a:lnR w="12700">
                      <a:solidFill>
                        <a:srgbClr val="E9570C"/>
                      </a:solidFill>
                      <a:prstDash val="solid"/>
                    </a:lnR>
                    <a:lnT w="12700">
                      <a:solidFill>
                        <a:srgbClr val="E9570C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POST /orders/online — Place online order (calls wallet-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E9570C"/>
                      </a:solidFill>
                      <a:prstDash val="solid"/>
                    </a:lnL>
                    <a:lnR w="12700">
                      <a:solidFill>
                        <a:srgbClr val="E9570C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GET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/orders/user/{userId}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—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Customer's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history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E9570C"/>
                      </a:solidFill>
                      <a:prstDash val="solid"/>
                    </a:lnL>
                    <a:lnR w="12700">
                      <a:solidFill>
                        <a:srgbClr val="E9570C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GET /orders/{orderId} — Single order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detail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E9570C"/>
                      </a:solidFill>
                      <a:prstDash val="solid"/>
                    </a:lnL>
                    <a:lnR w="12700">
                      <a:solidFill>
                        <a:srgbClr val="E9570C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13649" y="861849"/>
          <a:ext cx="6120130" cy="106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PUT /orders/status — Admin updates order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status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E9570C"/>
                      </a:solidFill>
                      <a:prstDash val="solid"/>
                    </a:lnL>
                    <a:lnR w="12700">
                      <a:solidFill>
                        <a:srgbClr val="E9570C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POST /orders/address — Save delivery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address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E9570C"/>
                      </a:solidFill>
                      <a:prstDash val="solid"/>
                    </a:lnL>
                    <a:lnR w="12700">
                      <a:solidFill>
                        <a:srgbClr val="E9570C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GET /orders/address/{userId} — Get saved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addresses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E9570C"/>
                      </a:solidFill>
                      <a:prstDash val="solid"/>
                    </a:lnL>
                    <a:lnR w="12700">
                      <a:solidFill>
                        <a:srgbClr val="E9570C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DELETE /orders/{id} — Cancel/delete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E9570C"/>
                      </a:solidFill>
                      <a:prstDash val="solid"/>
                    </a:lnL>
                    <a:lnR w="12700">
                      <a:solidFill>
                        <a:srgbClr val="E9570C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12700">
                      <a:solidFill>
                        <a:srgbClr val="E9570C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83499" y="2201699"/>
            <a:ext cx="228346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6.5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wallet-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service</a:t>
            </a:r>
            <a:r>
              <a:rPr sz="1300" b="1" spc="-2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(Port</a:t>
            </a:r>
            <a:r>
              <a:rPr sz="1300" b="1" spc="-2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8085)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999" y="2493799"/>
            <a:ext cx="6120130" cy="609600"/>
          </a:xfrm>
          <a:prstGeom prst="rect">
            <a:avLst/>
          </a:prstGeom>
          <a:solidFill>
            <a:srgbClr val="FDE2E2"/>
          </a:solidFill>
          <a:ln w="19050">
            <a:solidFill>
              <a:srgbClr val="DB2626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52400" marR="144145">
              <a:lnSpc>
                <a:spcPct val="133300"/>
              </a:lnSpc>
              <a:spcBef>
                <a:spcPts val="400"/>
              </a:spcBef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Manages</a:t>
            </a:r>
            <a:r>
              <a:rPr sz="1000" spc="17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each</a:t>
            </a:r>
            <a:r>
              <a:rPr sz="1000" spc="17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user's</a:t>
            </a:r>
            <a:r>
              <a:rPr sz="1000" spc="17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virtual</a:t>
            </a:r>
            <a:r>
              <a:rPr sz="1000" spc="17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wallet.</a:t>
            </a:r>
            <a:r>
              <a:rPr sz="1000" spc="17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Every</a:t>
            </a:r>
            <a:r>
              <a:rPr sz="1000" spc="17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transaction</a:t>
            </a:r>
            <a:r>
              <a:rPr sz="1000" spc="17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(deposit</a:t>
            </a:r>
            <a:r>
              <a:rPr sz="1000" spc="17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or</a:t>
            </a:r>
            <a:r>
              <a:rPr sz="1000" spc="17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withdrawal)</a:t>
            </a:r>
            <a:r>
              <a:rPr sz="1000" spc="17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creates</a:t>
            </a:r>
            <a:r>
              <a:rPr sz="1000" spc="17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an</a:t>
            </a:r>
            <a:r>
              <a:rPr sz="1000" spc="17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immutable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statement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record.</a:t>
            </a:r>
            <a:endParaRPr sz="10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13649" y="3173249"/>
          <a:ext cx="6119495" cy="124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5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3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DB</a:t>
                      </a:r>
                      <a:r>
                        <a:rPr sz="900" b="1" spc="-20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Entities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E2E8EF"/>
                      </a:solidFill>
                      <a:prstDash val="solid"/>
                    </a:lnR>
                    <a:lnT w="1270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213360">
                        <a:lnSpc>
                          <a:spcPct val="1204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Wallet table: walletId (= userId), currentBalance. Statement table: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statementId,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walletId, transactionType, amount, dateTime, orderId,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transactionRemarks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2E8EF"/>
                      </a:solidFill>
                      <a:prstDash val="solid"/>
                    </a:lnL>
                    <a:lnR w="12700">
                      <a:solidFill>
                        <a:srgbClr val="CAD4E1"/>
                      </a:solidFill>
                      <a:prstDash val="solid"/>
                    </a:lnR>
                    <a:lnT w="1270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Special </a:t>
                      </a:r>
                      <a:r>
                        <a:rPr sz="900" b="1" spc="-10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Logic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E2E8EF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12700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146685">
                        <a:lnSpc>
                          <a:spcPct val="1204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walletId intentionally equals userId (no @GeneratedValue) so wallet lookup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is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always O(1). RazorpayResource integrates real Razorpay API — creates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order,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verifies signature, then adds money. PaymentEventPublisher sends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payment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success/failure to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RabbitMQ.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2E8EF"/>
                      </a:solidFill>
                      <a:prstDash val="solid"/>
                    </a:lnL>
                    <a:lnR w="1270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12700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13649" y="4519449"/>
          <a:ext cx="6120130" cy="1600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POST /wallet — Create wallet for new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DB2626"/>
                      </a:solidFill>
                      <a:prstDash val="solid"/>
                    </a:lnL>
                    <a:lnR w="12700">
                      <a:solidFill>
                        <a:srgbClr val="DB2626"/>
                      </a:solidFill>
                      <a:prstDash val="solid"/>
                    </a:lnR>
                    <a:lnT w="12700">
                      <a:solidFill>
                        <a:srgbClr val="DB2626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GET /wallet/{id} — Get wallet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balance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DB2626"/>
                      </a:solidFill>
                      <a:prstDash val="solid"/>
                    </a:lnL>
                    <a:lnR w="12700">
                      <a:solidFill>
                        <a:srgbClr val="DB2626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PUT /wallet/{id}/add — Deposit money (after Razorpay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success)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DB2626"/>
                      </a:solidFill>
                      <a:prstDash val="solid"/>
                    </a:lnL>
                    <a:lnR w="12700">
                      <a:solidFill>
                        <a:srgbClr val="DB2626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PUT /wallet/{id}/pay — Deduct money for an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DB2626"/>
                      </a:solidFill>
                      <a:prstDash val="solid"/>
                    </a:lnL>
                    <a:lnR w="12700">
                      <a:solidFill>
                        <a:srgbClr val="DB2626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GET /wallet/{id}/statements — Get full transaction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history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DB2626"/>
                      </a:solidFill>
                      <a:prstDash val="solid"/>
                    </a:lnL>
                    <a:lnR w="12700">
                      <a:solidFill>
                        <a:srgbClr val="DB2626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GET /wallet/all — Admin sees all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wallets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DB2626"/>
                      </a:solidFill>
                      <a:prstDash val="solid"/>
                    </a:lnL>
                    <a:lnR w="12700">
                      <a:solidFill>
                        <a:srgbClr val="DB2626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12700">
                      <a:solidFill>
                        <a:srgbClr val="DB2626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3499" y="6392699"/>
            <a:ext cx="233870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6.6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review-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service</a:t>
            </a:r>
            <a:r>
              <a:rPr sz="1300" b="1" spc="-2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(Port</a:t>
            </a:r>
            <a:r>
              <a:rPr sz="1300" b="1" spc="-2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8086)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9999" y="6684799"/>
            <a:ext cx="6120130" cy="609600"/>
          </a:xfrm>
          <a:prstGeom prst="rect">
            <a:avLst/>
          </a:prstGeom>
          <a:solidFill>
            <a:srgbClr val="CCFBF0"/>
          </a:solidFill>
          <a:ln w="19050">
            <a:solidFill>
              <a:srgbClr val="0C9387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52400" marR="144145">
              <a:lnSpc>
                <a:spcPct val="133300"/>
              </a:lnSpc>
              <a:spcBef>
                <a:spcPts val="400"/>
              </a:spcBef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Handles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all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book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reviews</a:t>
            </a:r>
            <a:r>
              <a:rPr sz="1000" spc="1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and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star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ratings.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Only</a:t>
            </a:r>
            <a:r>
              <a:rPr sz="1000" spc="1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customers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who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actually</a:t>
            </a:r>
            <a:r>
              <a:rPr sz="1000" spc="1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purchased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book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can</a:t>
            </a:r>
            <a:r>
              <a:rPr sz="1000" spc="1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submit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11826"/>
                </a:solidFill>
                <a:latin typeface="Arial MT"/>
                <a:cs typeface="Arial MT"/>
              </a:rPr>
              <a:t>a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review (verified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flag).</a:t>
            </a:r>
            <a:endParaRPr sz="1000">
              <a:latin typeface="Arial MT"/>
              <a:cs typeface="Arial MT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13649" y="7364249"/>
          <a:ext cx="6119495" cy="1079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5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3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DB</a:t>
                      </a:r>
                      <a:r>
                        <a:rPr sz="900" b="1" spc="-20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Entities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E2E8EF"/>
                      </a:solidFill>
                      <a:prstDash val="solid"/>
                    </a:lnR>
                    <a:lnT w="1270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394335">
                        <a:lnSpc>
                          <a:spcPct val="1204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Review table: reviewId, bookId, userId, rating (1–5), comment,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reviewDate, verified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2E8EF"/>
                      </a:solidFill>
                      <a:prstDash val="solid"/>
                    </a:lnL>
                    <a:lnR w="12700">
                      <a:solidFill>
                        <a:srgbClr val="CAD4E1"/>
                      </a:solidFill>
                      <a:prstDash val="solid"/>
                    </a:lnR>
                    <a:lnT w="1270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Special </a:t>
                      </a:r>
                      <a:r>
                        <a:rPr sz="900" b="1" spc="-10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Logic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E2E8EF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12700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111760">
                        <a:lnSpc>
                          <a:spcPct val="1204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verified=true is set when order-service confirms this userId has a delivered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for this bookId. Average rating computed in DB using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avgRatingByBookId() query.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2E8EF"/>
                      </a:solidFill>
                      <a:prstDash val="solid"/>
                    </a:lnL>
                    <a:lnR w="1270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12700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13649" y="8545349"/>
          <a:ext cx="6120130" cy="1332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POST /reviews — Add a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review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C9387"/>
                      </a:solidFill>
                      <a:prstDash val="solid"/>
                    </a:lnL>
                    <a:lnR w="12700">
                      <a:solidFill>
                        <a:srgbClr val="0C9387"/>
                      </a:solidFill>
                      <a:prstDash val="solid"/>
                    </a:lnR>
                    <a:lnT w="12700">
                      <a:solidFill>
                        <a:srgbClr val="0C9387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GET /reviews/book/{bookId} — All reviews for a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C9387"/>
                      </a:solidFill>
                      <a:prstDash val="solid"/>
                    </a:lnL>
                    <a:lnR w="12700">
                      <a:solidFill>
                        <a:srgbClr val="0C9387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GET /reviews/user/{userId} — All reviews by a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C9387"/>
                      </a:solidFill>
                      <a:prstDash val="solid"/>
                    </a:lnL>
                    <a:lnR w="12700">
                      <a:solidFill>
                        <a:srgbClr val="0C9387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GET /reviews/avg/{bookId} — Average rating for a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C9387"/>
                      </a:solidFill>
                      <a:prstDash val="solid"/>
                    </a:lnL>
                    <a:lnR w="12700">
                      <a:solidFill>
                        <a:srgbClr val="0C9387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PUT /reviews — Edit a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review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C9387"/>
                      </a:solidFill>
                      <a:prstDash val="solid"/>
                    </a:lnL>
                    <a:lnR w="12700">
                      <a:solidFill>
                        <a:srgbClr val="0C9387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9999" y="868199"/>
            <a:ext cx="6120130" cy="533400"/>
          </a:xfrm>
          <a:custGeom>
            <a:avLst/>
            <a:gdLst/>
            <a:ahLst/>
            <a:cxnLst/>
            <a:rect l="l" t="t" r="r" b="b"/>
            <a:pathLst>
              <a:path w="6120130" h="533400">
                <a:moveTo>
                  <a:pt x="6120000" y="0"/>
                </a:moveTo>
                <a:lnTo>
                  <a:pt x="0" y="0"/>
                </a:lnTo>
                <a:lnTo>
                  <a:pt x="0" y="533400"/>
                </a:lnTo>
                <a:lnTo>
                  <a:pt x="6120000" y="533400"/>
                </a:lnTo>
                <a:lnTo>
                  <a:pt x="6120000" y="0"/>
                </a:lnTo>
                <a:close/>
              </a:path>
            </a:pathLst>
          </a:custGeom>
          <a:solidFill>
            <a:srgbClr val="F7F9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26349" y="870104"/>
            <a:ext cx="6107430" cy="262890"/>
          </a:xfrm>
          <a:prstGeom prst="rect">
            <a:avLst/>
          </a:prstGeom>
          <a:solidFill>
            <a:srgbClr val="F7F9FB"/>
          </a:solidFill>
        </p:spPr>
        <p:txBody>
          <a:bodyPr vert="horz" wrap="square" lIns="0" tIns="48895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385"/>
              </a:spcBef>
            </a:pPr>
            <a:r>
              <a:rPr sz="900" dirty="0">
                <a:solidFill>
                  <a:srgbClr val="111826"/>
                </a:solidFill>
                <a:latin typeface="Arial MT"/>
                <a:cs typeface="Arial MT"/>
              </a:rPr>
              <a:t>DELETE /reviews/{id} — Delete review (customer or </a:t>
            </a:r>
            <a:r>
              <a:rPr sz="900" spc="-10" dirty="0">
                <a:solidFill>
                  <a:srgbClr val="111826"/>
                </a:solidFill>
                <a:latin typeface="Arial MT"/>
                <a:cs typeface="Arial MT"/>
              </a:rPr>
              <a:t>admin)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6349" y="1136804"/>
            <a:ext cx="6107430" cy="258445"/>
          </a:xfrm>
          <a:prstGeom prst="rect">
            <a:avLst/>
          </a:prstGeom>
          <a:solidFill>
            <a:srgbClr val="F7F9FB"/>
          </a:solidFill>
        </p:spPr>
        <p:txBody>
          <a:bodyPr vert="horz" wrap="square" lIns="0" tIns="48895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385"/>
              </a:spcBef>
            </a:pPr>
            <a:r>
              <a:rPr sz="900" dirty="0">
                <a:solidFill>
                  <a:srgbClr val="111826"/>
                </a:solidFill>
                <a:latin typeface="Arial MT"/>
                <a:cs typeface="Arial MT"/>
              </a:rPr>
              <a:t>GET /reviews/all — Admin sees all reviews for </a:t>
            </a:r>
            <a:r>
              <a:rPr sz="900" spc="-10" dirty="0">
                <a:solidFill>
                  <a:srgbClr val="111826"/>
                </a:solidFill>
                <a:latin typeface="Arial MT"/>
                <a:cs typeface="Arial MT"/>
              </a:rPr>
              <a:t>moderation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13649" y="866294"/>
            <a:ext cx="6132830" cy="541655"/>
            <a:chOff x="713649" y="866294"/>
            <a:chExt cx="6132830" cy="541655"/>
          </a:xfrm>
        </p:grpSpPr>
        <p:sp>
          <p:nvSpPr>
            <p:cNvPr id="6" name="object 6"/>
            <p:cNvSpPr/>
            <p:nvPr/>
          </p:nvSpPr>
          <p:spPr>
            <a:xfrm>
              <a:off x="719999" y="868199"/>
              <a:ext cx="6120130" cy="266700"/>
            </a:xfrm>
            <a:custGeom>
              <a:avLst/>
              <a:gdLst/>
              <a:ahLst/>
              <a:cxnLst/>
              <a:rect l="l" t="t" r="r" b="b"/>
              <a:pathLst>
                <a:path w="6120130" h="266700">
                  <a:moveTo>
                    <a:pt x="0" y="0"/>
                  </a:moveTo>
                  <a:lnTo>
                    <a:pt x="6120000" y="0"/>
                  </a:lnTo>
                </a:path>
                <a:path w="6120130" h="266700">
                  <a:moveTo>
                    <a:pt x="0" y="266700"/>
                  </a:moveTo>
                  <a:lnTo>
                    <a:pt x="6120000" y="266700"/>
                  </a:lnTo>
                </a:path>
              </a:pathLst>
            </a:custGeom>
            <a:ln w="3810">
              <a:solidFill>
                <a:srgbClr val="E2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9999" y="868199"/>
              <a:ext cx="6120130" cy="533400"/>
            </a:xfrm>
            <a:custGeom>
              <a:avLst/>
              <a:gdLst/>
              <a:ahLst/>
              <a:cxnLst/>
              <a:rect l="l" t="t" r="r" b="b"/>
              <a:pathLst>
                <a:path w="6120130" h="533400">
                  <a:moveTo>
                    <a:pt x="0" y="533400"/>
                  </a:moveTo>
                  <a:lnTo>
                    <a:pt x="0" y="0"/>
                  </a:lnTo>
                </a:path>
                <a:path w="6120130" h="533400">
                  <a:moveTo>
                    <a:pt x="6120000" y="533400"/>
                  </a:moveTo>
                  <a:lnTo>
                    <a:pt x="6120000" y="0"/>
                  </a:lnTo>
                </a:path>
                <a:path w="6120130" h="533400">
                  <a:moveTo>
                    <a:pt x="0" y="533400"/>
                  </a:moveTo>
                  <a:lnTo>
                    <a:pt x="6120000" y="533400"/>
                  </a:lnTo>
                </a:path>
              </a:pathLst>
            </a:custGeom>
            <a:ln w="12700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3499" y="1668299"/>
            <a:ext cx="271399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6.7</a:t>
            </a:r>
            <a:r>
              <a:rPr sz="1300" b="1" spc="-1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notification-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service</a:t>
            </a:r>
            <a:r>
              <a:rPr sz="1300" b="1" spc="-1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(Port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 8087)</a:t>
            </a:r>
            <a:endParaRPr sz="1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9999" y="1960399"/>
            <a:ext cx="6120130" cy="609600"/>
          </a:xfrm>
          <a:prstGeom prst="rect">
            <a:avLst/>
          </a:prstGeom>
          <a:solidFill>
            <a:srgbClr val="F2E8FF"/>
          </a:solidFill>
          <a:ln w="19050">
            <a:solidFill>
              <a:srgbClr val="9333E9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52400" marR="144145">
              <a:lnSpc>
                <a:spcPct val="133300"/>
              </a:lnSpc>
              <a:spcBef>
                <a:spcPts val="400"/>
              </a:spcBef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Listens</a:t>
            </a:r>
            <a:r>
              <a:rPr sz="1000" spc="16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to</a:t>
            </a:r>
            <a:r>
              <a:rPr sz="1000" spc="16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RabbitMQ</a:t>
            </a:r>
            <a:r>
              <a:rPr sz="1000" spc="16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events</a:t>
            </a:r>
            <a:r>
              <a:rPr sz="1000" spc="16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and</a:t>
            </a:r>
            <a:r>
              <a:rPr sz="1000" spc="16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sends</a:t>
            </a:r>
            <a:r>
              <a:rPr sz="1000" spc="16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emails</a:t>
            </a:r>
            <a:r>
              <a:rPr sz="1000" spc="16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+</a:t>
            </a:r>
            <a:r>
              <a:rPr sz="1000" spc="16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saves</a:t>
            </a:r>
            <a:r>
              <a:rPr sz="1000" spc="16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in-app</a:t>
            </a:r>
            <a:r>
              <a:rPr sz="1000" spc="16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notifications.</a:t>
            </a:r>
            <a:r>
              <a:rPr sz="1000" spc="16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Tracks</a:t>
            </a:r>
            <a:r>
              <a:rPr sz="1000" spc="16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read/unread</a:t>
            </a:r>
            <a:r>
              <a:rPr sz="1000" spc="16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11826"/>
                </a:solidFill>
                <a:latin typeface="Arial MT"/>
                <a:cs typeface="Arial MT"/>
              </a:rPr>
              <a:t>per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user.</a:t>
            </a:r>
            <a:endParaRPr sz="1000">
              <a:latin typeface="Arial MT"/>
              <a:cs typeface="Arial MT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13649" y="2639849"/>
          <a:ext cx="6119495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5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3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b="1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DB</a:t>
                      </a:r>
                      <a:r>
                        <a:rPr sz="900" b="1" spc="-20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Entities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E2E8EF"/>
                      </a:solidFill>
                      <a:prstDash val="solid"/>
                    </a:lnR>
                    <a:lnT w="1270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Notification table: notificationId, userId, type, message, isRead,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createdAt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L w="6350">
                      <a:solidFill>
                        <a:srgbClr val="E2E8EF"/>
                      </a:solidFill>
                      <a:prstDash val="solid"/>
                    </a:lnL>
                    <a:lnR w="12700">
                      <a:solidFill>
                        <a:srgbClr val="CAD4E1"/>
                      </a:solidFill>
                      <a:prstDash val="solid"/>
                    </a:lnR>
                    <a:lnT w="1270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Special </a:t>
                      </a:r>
                      <a:r>
                        <a:rPr sz="900" b="1" spc="-10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Logic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E2E8EF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12700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101600">
                        <a:lnSpc>
                          <a:spcPct val="1204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NotificationEventConsumer listens on booknest.order.events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and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booknest.payment.events queues. RabbitMQConfig defines exchanges,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queues,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and bindings. EmailService uses JavaMailSender with HTML email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templates.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2E8EF"/>
                      </a:solidFill>
                      <a:prstDash val="solid"/>
                    </a:lnL>
                    <a:lnR w="1270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12700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13649" y="3655849"/>
          <a:ext cx="6120130" cy="1333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GET /notifications/{userId} — Get all notifications for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9333E9"/>
                      </a:solidFill>
                      <a:prstDash val="solid"/>
                    </a:lnL>
                    <a:lnR w="12700">
                      <a:solidFill>
                        <a:srgbClr val="9333E9"/>
                      </a:solidFill>
                      <a:prstDash val="solid"/>
                    </a:lnR>
                    <a:lnT w="12700">
                      <a:solidFill>
                        <a:srgbClr val="9333E9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PUT /notifications/{id}/read — Mark one as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read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9333E9"/>
                      </a:solidFill>
                      <a:prstDash val="solid"/>
                    </a:lnL>
                    <a:lnR w="12700">
                      <a:solidFill>
                        <a:srgbClr val="9333E9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PUT /notifications/{userId}/readAll — Mark all as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read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9333E9"/>
                      </a:solidFill>
                      <a:prstDash val="solid"/>
                    </a:lnL>
                    <a:lnR w="12700">
                      <a:solidFill>
                        <a:srgbClr val="9333E9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GET /notifications/{userId}/unread-count — Badge count for bell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icon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9333E9"/>
                      </a:solidFill>
                      <a:prstDash val="solid"/>
                    </a:lnL>
                    <a:lnR w="12700">
                      <a:solidFill>
                        <a:srgbClr val="9333E9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DELETE /notifications/{id} — Delete a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notification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9333E9"/>
                      </a:solidFill>
                      <a:prstDash val="solid"/>
                    </a:lnL>
                    <a:lnR w="12700">
                      <a:solidFill>
                        <a:srgbClr val="9333E9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12700">
                      <a:solidFill>
                        <a:srgbClr val="9333E9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783499" y="5262399"/>
            <a:ext cx="243014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6.8</a:t>
            </a:r>
            <a:r>
              <a:rPr sz="1300" b="1" spc="-2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wishlist-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service</a:t>
            </a:r>
            <a:r>
              <a:rPr sz="1300" b="1" spc="-2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(Port</a:t>
            </a:r>
            <a:r>
              <a:rPr sz="1300" b="1" spc="-2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8088)</a:t>
            </a:r>
            <a:endParaRPr sz="1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9999" y="5554499"/>
            <a:ext cx="6120130" cy="609600"/>
          </a:xfrm>
          <a:prstGeom prst="rect">
            <a:avLst/>
          </a:prstGeom>
          <a:solidFill>
            <a:srgbClr val="FDF2C6"/>
          </a:solidFill>
          <a:ln w="19050">
            <a:solidFill>
              <a:srgbClr val="F49E0A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52400" marR="144145">
              <a:lnSpc>
                <a:spcPct val="133300"/>
              </a:lnSpc>
              <a:spcBef>
                <a:spcPts val="400"/>
              </a:spcBef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Lets</a:t>
            </a:r>
            <a:r>
              <a:rPr sz="1000" spc="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customers</a:t>
            </a:r>
            <a:r>
              <a:rPr sz="1000" spc="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save</a:t>
            </a:r>
            <a:r>
              <a:rPr sz="1000" spc="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books</a:t>
            </a:r>
            <a:r>
              <a:rPr sz="1000" spc="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they</a:t>
            </a:r>
            <a:r>
              <a:rPr sz="1000" spc="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want</a:t>
            </a:r>
            <a:r>
              <a:rPr sz="1000" spc="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to</a:t>
            </a:r>
            <a:r>
              <a:rPr sz="1000" spc="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buy</a:t>
            </a:r>
            <a:r>
              <a:rPr sz="1000" spc="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later.</a:t>
            </a:r>
            <a:r>
              <a:rPr sz="1000" spc="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Items</a:t>
            </a:r>
            <a:r>
              <a:rPr sz="1000" spc="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can</a:t>
            </a:r>
            <a:r>
              <a:rPr sz="1000" spc="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be</a:t>
            </a:r>
            <a:r>
              <a:rPr sz="1000" spc="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moved</a:t>
            </a:r>
            <a:r>
              <a:rPr sz="1000" spc="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directly</a:t>
            </a:r>
            <a:r>
              <a:rPr sz="1000" spc="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to</a:t>
            </a:r>
            <a:r>
              <a:rPr sz="1000" spc="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the</a:t>
            </a:r>
            <a:r>
              <a:rPr sz="1000" spc="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shopping</a:t>
            </a:r>
            <a:r>
              <a:rPr sz="1000" spc="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cart</a:t>
            </a:r>
            <a:r>
              <a:rPr sz="1000" spc="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11826"/>
                </a:solidFill>
                <a:latin typeface="Arial MT"/>
                <a:cs typeface="Arial MT"/>
              </a:rPr>
              <a:t>in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one</a:t>
            </a:r>
            <a:r>
              <a:rPr sz="1000" spc="1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click.</a:t>
            </a:r>
            <a:endParaRPr sz="1000">
              <a:latin typeface="Arial MT"/>
              <a:cs typeface="Arial MT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713649" y="6233949"/>
          <a:ext cx="6119495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5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3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DB</a:t>
                      </a:r>
                      <a:r>
                        <a:rPr sz="900" b="1" spc="-20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Entities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E2E8EF"/>
                      </a:solidFill>
                      <a:prstDash val="solid"/>
                    </a:lnR>
                    <a:lnT w="1270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147320">
                        <a:lnSpc>
                          <a:spcPct val="1204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Wishlist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table: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wishlistId,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userId, createdAt.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WishlistItem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table: itemId,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wishlistId,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bookId, bookTitle,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bookPrice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2E8EF"/>
                      </a:solidFill>
                      <a:prstDash val="solid"/>
                    </a:lnL>
                    <a:lnR w="12700">
                      <a:solidFill>
                        <a:srgbClr val="CAD4E1"/>
                      </a:solidFill>
                      <a:prstDash val="solid"/>
                    </a:lnR>
                    <a:lnT w="1270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Special </a:t>
                      </a:r>
                      <a:r>
                        <a:rPr sz="900" b="1" spc="-10" dirty="0">
                          <a:solidFill>
                            <a:srgbClr val="111826"/>
                          </a:solidFill>
                          <a:latin typeface="Arial"/>
                          <a:cs typeface="Arial"/>
                        </a:rPr>
                        <a:t>Logic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E2E8EF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12700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109220">
                        <a:lnSpc>
                          <a:spcPct val="1204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moveToCart calls cart-service via RestTemplate to add the item, then removes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it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from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wishlist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—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atomic from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user's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perspective.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E2E8EF"/>
                      </a:solidFill>
                      <a:prstDash val="solid"/>
                    </a:lnL>
                    <a:lnR w="1270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12700">
                      <a:solidFill>
                        <a:srgbClr val="CAD4E1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713649" y="7249949"/>
          <a:ext cx="6120130" cy="1333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0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GET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/wishlist/{userId}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—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Get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user's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wishlist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F49E0A"/>
                      </a:solidFill>
                      <a:prstDash val="solid"/>
                    </a:lnL>
                    <a:lnR w="12700">
                      <a:solidFill>
                        <a:srgbClr val="F49E0A"/>
                      </a:solidFill>
                      <a:prstDash val="solid"/>
                    </a:lnR>
                    <a:lnT w="12700">
                      <a:solidFill>
                        <a:srgbClr val="F49E0A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POST /wishlist/{userId}/add/{bookId} — Add book to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wishlist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F49E0A"/>
                      </a:solidFill>
                      <a:prstDash val="solid"/>
                    </a:lnL>
                    <a:lnR w="12700">
                      <a:solidFill>
                        <a:srgbClr val="F49E0A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DELETE /wishlist/{userId}/remove/{bookId} — Remove from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wishlist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F49E0A"/>
                      </a:solidFill>
                      <a:prstDash val="solid"/>
                    </a:lnL>
                    <a:lnR w="12700">
                      <a:solidFill>
                        <a:srgbClr val="F49E0A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DELETE /wishlist/{userId}/clear — Clear entire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wishlist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F49E0A"/>
                      </a:solidFill>
                      <a:prstDash val="solid"/>
                    </a:lnL>
                    <a:lnR w="12700">
                      <a:solidFill>
                        <a:srgbClr val="F49E0A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6350">
                      <a:solidFill>
                        <a:srgbClr val="E2E8EF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POST /wishlist/{userId}/move/{bookId} — Move item from wishlist to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F49E0A"/>
                      </a:solidFill>
                      <a:prstDash val="solid"/>
                    </a:lnL>
                    <a:lnR w="12700">
                      <a:solidFill>
                        <a:srgbClr val="F49E0A"/>
                      </a:solidFill>
                      <a:prstDash val="solid"/>
                    </a:lnR>
                    <a:lnT w="6350">
                      <a:solidFill>
                        <a:srgbClr val="E2E8EF"/>
                      </a:solidFill>
                      <a:prstDash val="solid"/>
                    </a:lnT>
                    <a:lnB w="12700">
                      <a:solidFill>
                        <a:srgbClr val="F49E0A"/>
                      </a:solidFill>
                      <a:prstDash val="soli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9999" y="868199"/>
            <a:ext cx="6120130" cy="533400"/>
          </a:xfrm>
          <a:custGeom>
            <a:avLst/>
            <a:gdLst/>
            <a:ahLst/>
            <a:cxnLst/>
            <a:rect l="l" t="t" r="r" b="b"/>
            <a:pathLst>
              <a:path w="6120130" h="533400">
                <a:moveTo>
                  <a:pt x="61200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533400"/>
                </a:lnTo>
                <a:lnTo>
                  <a:pt x="6120000" y="533400"/>
                </a:lnTo>
                <a:lnTo>
                  <a:pt x="6120000" y="0"/>
                </a:lnTo>
                <a:close/>
              </a:path>
            </a:pathLst>
          </a:custGeom>
          <a:solidFill>
            <a:srgbClr val="0369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0499" y="982499"/>
            <a:ext cx="26530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7.</a:t>
            </a:r>
            <a:r>
              <a:rPr sz="17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Frontend</a:t>
            </a:r>
            <a:r>
              <a:rPr sz="17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17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Angular</a:t>
            </a:r>
            <a:r>
              <a:rPr sz="17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999" y="1528599"/>
            <a:ext cx="6120130" cy="812800"/>
          </a:xfrm>
          <a:prstGeom prst="rect">
            <a:avLst/>
          </a:prstGeom>
          <a:solidFill>
            <a:srgbClr val="DBE9FD"/>
          </a:solidFill>
          <a:ln w="19050">
            <a:solidFill>
              <a:srgbClr val="2462EB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52400" marR="144145" algn="just">
              <a:lnSpc>
                <a:spcPct val="133300"/>
              </a:lnSpc>
              <a:spcBef>
                <a:spcPts val="400"/>
              </a:spcBef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The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frontend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is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built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with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Angular</a:t>
            </a:r>
            <a:r>
              <a:rPr sz="1000" b="1" spc="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17</a:t>
            </a:r>
            <a:r>
              <a:rPr sz="1000" b="1" spc="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using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standalone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components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(no</a:t>
            </a:r>
            <a:r>
              <a:rPr sz="1000" spc="1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NgModule).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It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is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Single</a:t>
            </a:r>
            <a:r>
              <a:rPr sz="1000" b="1" spc="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111826"/>
                </a:solidFill>
                <a:latin typeface="Arial"/>
                <a:cs typeface="Arial"/>
              </a:rPr>
              <a:t>Page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Application</a:t>
            </a:r>
            <a:r>
              <a:rPr sz="1000" b="1" spc="8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(SPA)</a:t>
            </a:r>
            <a:r>
              <a:rPr sz="1000" b="1" spc="8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—</a:t>
            </a:r>
            <a:r>
              <a:rPr sz="1000" spc="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meaning</a:t>
            </a:r>
            <a:r>
              <a:rPr sz="1000" spc="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the</a:t>
            </a:r>
            <a:r>
              <a:rPr sz="1000" spc="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page</a:t>
            </a:r>
            <a:r>
              <a:rPr sz="1000" spc="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never</a:t>
            </a:r>
            <a:r>
              <a:rPr sz="1000" spc="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fully</a:t>
            </a:r>
            <a:r>
              <a:rPr sz="1000" spc="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reloads,</a:t>
            </a:r>
            <a:r>
              <a:rPr sz="1000" spc="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Angular</a:t>
            </a:r>
            <a:r>
              <a:rPr sz="1000" spc="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handles</a:t>
            </a:r>
            <a:r>
              <a:rPr sz="1000" spc="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all</a:t>
            </a:r>
            <a:r>
              <a:rPr sz="1000" spc="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routing</a:t>
            </a:r>
            <a:r>
              <a:rPr sz="1000" spc="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on</a:t>
            </a:r>
            <a:r>
              <a:rPr sz="1000" spc="9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the</a:t>
            </a:r>
            <a:r>
              <a:rPr sz="1000" spc="8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client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side. It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connects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to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the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backend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via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HTTP</a:t>
            </a:r>
            <a:r>
              <a:rPr sz="1000" b="1" spc="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services</a:t>
            </a:r>
            <a:r>
              <a:rPr sz="1000" b="1" spc="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that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call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the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Spring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Boot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REST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APIs.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3499" y="2531899"/>
            <a:ext cx="214439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Key</a:t>
            </a:r>
            <a:r>
              <a:rPr sz="1300" b="1" spc="-4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Frontend</a:t>
            </a:r>
            <a:r>
              <a:rPr sz="1300" b="1" spc="-4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Components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17459" y="2821460"/>
          <a:ext cx="6120764" cy="6667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3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2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521334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Component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Page/Feature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What It </a:t>
                      </a: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Does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home.component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Homepage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Shows featured books, new arrivals, category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navigation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catalog.component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Catalog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Search, filter by genre/author, paginated book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grid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detail.component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Page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Full book info, cover image, reviews, add to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cart/wishlist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cart.component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Shopping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Item list, quantity controls, total, go to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checkout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checkout.component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Checkout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Address form, payment mode selection, place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orders.component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History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List of all orders with status, invoice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view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wallet.component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Wallet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Balance display, add money (Razorpay), top-up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history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statements.component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Transactions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Full wallet statement history with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filter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notifications.component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Notifications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Bell icon with badge, read/unread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list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wishlist.component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Wishlist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Saved books, move-to-cart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button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login.component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Login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Page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Email/password form + GitHub OAuth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button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register.component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Register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Page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New account creation form with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validation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profile.component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My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Profile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View and edit personal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details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dashboard.component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Admin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Dashboard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Sales stats, quick action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cards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admin-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books.component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Manage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CRUD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listings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admin-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orders.component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Manage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View all orders, change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status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admin-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users.component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Manage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View, suspend, delete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customers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admin-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analytics.component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Analytics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Charts for sales, top books, revenue by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category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admin-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reviews.component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Moderate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Reviews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View and remove customer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reviews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admin-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inventory.component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Inventory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Stock level management, low stock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alerts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499" y="855499"/>
            <a:ext cx="229235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Angular</a:t>
            </a:r>
            <a:r>
              <a:rPr sz="1300" b="1" spc="-3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Services</a:t>
            </a:r>
            <a:r>
              <a:rPr sz="1300" b="1" spc="-3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1A3A5B"/>
                </a:solidFill>
                <a:latin typeface="Arial"/>
                <a:cs typeface="Arial"/>
              </a:rPr>
              <a:t>(API</a:t>
            </a:r>
            <a:r>
              <a:rPr sz="1300" b="1" spc="-3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1A3A5B"/>
                </a:solidFill>
                <a:latin typeface="Arial"/>
                <a:cs typeface="Arial"/>
              </a:rPr>
              <a:t>Layer)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17459" y="1145059"/>
          <a:ext cx="6119495" cy="25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5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3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58229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Service </a:t>
                      </a: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File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What It </a:t>
                      </a: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Does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auth.service.ts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Login, register, logout, token storage in localStorage, user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info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book.service.ts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All book API calls — search, filter, get by ID,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featured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services.ts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Cart, order, wallet, review, notification, wishlist API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calls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razorpay.service.ts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Loads Razorpay JS SDK, creates payment options, handles payment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callback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auth.interceptor.ts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Automatically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adds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Authorization: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Bearer to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every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HTTP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request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auth.guard.ts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Prevents unauthenticated users from accessing protected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routes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admin.guard.ts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Prevents non-admin users from accessing admin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routes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9999" y="868199"/>
            <a:ext cx="6120130" cy="533400"/>
          </a:xfrm>
          <a:custGeom>
            <a:avLst/>
            <a:gdLst/>
            <a:ahLst/>
            <a:cxnLst/>
            <a:rect l="l" t="t" r="r" b="b"/>
            <a:pathLst>
              <a:path w="6120130" h="533400">
                <a:moveTo>
                  <a:pt x="61200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533400"/>
                </a:lnTo>
                <a:lnTo>
                  <a:pt x="6120000" y="533400"/>
                </a:lnTo>
                <a:lnTo>
                  <a:pt x="6120000" y="0"/>
                </a:lnTo>
                <a:close/>
              </a:path>
            </a:pathLst>
          </a:custGeom>
          <a:solidFill>
            <a:srgbClr val="7C3A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0499" y="982499"/>
            <a:ext cx="27730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8.</a:t>
            </a:r>
            <a:r>
              <a:rPr sz="17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Security</a:t>
            </a:r>
            <a:r>
              <a:rPr sz="17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Arial"/>
                <a:cs typeface="Arial"/>
              </a:rPr>
              <a:t>Implementation</a:t>
            </a:r>
            <a:endParaRPr sz="17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17459" y="1526059"/>
          <a:ext cx="6119495" cy="4025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5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3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445134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Security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Feature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How It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Works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Password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Storage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26098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Passwords are NEVER stored as plain text. BCryptPasswordEncoder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hashes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them. Even if DB is leaked, passwords are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safe.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JWT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Authentication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16573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After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login, server creates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 JWT token signed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with a secret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key. Token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expires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 24 hours. Client sends it in every request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header.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Token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Validation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30543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Each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microservice validates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the JWT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on protected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endpoints.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Invalid/expired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token = 401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Unauthorized.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GitHub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OAuth2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0985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314960" algn="just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clicks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'Login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GitHub'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sz="900" spc="20" dirty="0">
                          <a:solidFill>
                            <a:srgbClr val="11182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redirected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GitHub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sz="900" spc="25" dirty="0">
                          <a:solidFill>
                            <a:srgbClr val="11182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authorizes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50" dirty="0">
                          <a:solidFill>
                            <a:srgbClr val="111826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GitHub sends code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sz="900" spc="25" dirty="0">
                          <a:solidFill>
                            <a:srgbClr val="11182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server exchanges for token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sz="900" spc="25" dirty="0">
                          <a:solidFill>
                            <a:srgbClr val="11182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OAuthSuccessHandler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creates/links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account.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Role-Based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Access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25463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CUSTOMER</a:t>
                      </a:r>
                      <a:r>
                        <a:rPr sz="900" spc="-1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role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cannot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access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/admin/**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endpoints.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ADMIN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role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can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access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everything. Angular guards prevent unauthorized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navigation.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CORS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Configuration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29908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Each service has SecurityConfig allowing requests from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  <a:hlinkClick r:id="rId2"/>
                        </a:rPr>
                        <a:t>http://localhost:4200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(Angular dev) — must be updated for production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URL.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OTP Password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Reset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0985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15811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 requests reset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sz="900" spc="25" dirty="0">
                          <a:solidFill>
                            <a:srgbClr val="11182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server generates 6-digit OTP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sz="900" spc="25" dirty="0">
                          <a:solidFill>
                            <a:srgbClr val="11182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sends via email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sz="900" spc="25" dirty="0">
                          <a:solidFill>
                            <a:srgbClr val="11182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OTP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stored in memory (OtpStore) with 10-min expiry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sz="900" spc="25" dirty="0">
                          <a:solidFill>
                            <a:srgbClr val="11182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user submits OTP +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new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password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sz="900" spc="25" dirty="0">
                          <a:solidFill>
                            <a:srgbClr val="11182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verified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sz="900" spc="25" dirty="0">
                          <a:solidFill>
                            <a:srgbClr val="11182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reset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done.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9999" y="868199"/>
            <a:ext cx="6120130" cy="533400"/>
          </a:xfrm>
          <a:custGeom>
            <a:avLst/>
            <a:gdLst/>
            <a:ahLst/>
            <a:cxnLst/>
            <a:rect l="l" t="t" r="r" b="b"/>
            <a:pathLst>
              <a:path w="6120130" h="533400">
                <a:moveTo>
                  <a:pt x="61200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533400"/>
                </a:lnTo>
                <a:lnTo>
                  <a:pt x="6120000" y="533400"/>
                </a:lnTo>
                <a:lnTo>
                  <a:pt x="6120000" y="0"/>
                </a:lnTo>
                <a:close/>
              </a:path>
            </a:pathLst>
          </a:custGeom>
          <a:solidFill>
            <a:srgbClr val="16A3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0499" y="982499"/>
            <a:ext cx="391223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9.</a:t>
            </a:r>
            <a:r>
              <a:rPr sz="17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Testing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17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Tests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Were</a:t>
            </a:r>
            <a:r>
              <a:rPr sz="17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Arial"/>
                <a:cs typeface="Arial"/>
              </a:rPr>
              <a:t>Written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999" y="1528599"/>
            <a:ext cx="6120130" cy="812800"/>
          </a:xfrm>
          <a:prstGeom prst="rect">
            <a:avLst/>
          </a:prstGeom>
          <a:solidFill>
            <a:srgbClr val="DBE9FD"/>
          </a:solidFill>
          <a:ln w="19050">
            <a:solidFill>
              <a:srgbClr val="2462EB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52400" marR="144145" algn="just">
              <a:lnSpc>
                <a:spcPct val="133300"/>
              </a:lnSpc>
              <a:spcBef>
                <a:spcPts val="400"/>
              </a:spcBef>
            </a:pP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Every</a:t>
            </a:r>
            <a:r>
              <a:rPr sz="1000" spc="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backend</a:t>
            </a:r>
            <a:r>
              <a:rPr sz="1000" spc="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service</a:t>
            </a:r>
            <a:r>
              <a:rPr sz="1000" spc="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has</a:t>
            </a:r>
            <a:r>
              <a:rPr sz="1000" spc="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</a:t>
            </a:r>
            <a:r>
              <a:rPr sz="1000" spc="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JUnit</a:t>
            </a:r>
            <a:r>
              <a:rPr sz="1000" b="1" spc="4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5</a:t>
            </a:r>
            <a:r>
              <a:rPr sz="1000" b="1" spc="4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test</a:t>
            </a:r>
            <a:r>
              <a:rPr sz="1000" b="1" spc="40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class</a:t>
            </a:r>
            <a:r>
              <a:rPr sz="1000" b="1" spc="4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using</a:t>
            </a:r>
            <a:r>
              <a:rPr sz="1000" spc="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Mockito</a:t>
            </a:r>
            <a:r>
              <a:rPr sz="1000" b="1" spc="40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to</a:t>
            </a:r>
            <a:r>
              <a:rPr sz="1000" spc="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mock</a:t>
            </a:r>
            <a:r>
              <a:rPr sz="1000" spc="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the</a:t>
            </a:r>
            <a:r>
              <a:rPr sz="1000" spc="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repository</a:t>
            </a:r>
            <a:r>
              <a:rPr sz="1000" spc="4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layer.</a:t>
            </a:r>
            <a:r>
              <a:rPr sz="1000" spc="4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Frontend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tests</a:t>
            </a:r>
            <a:r>
              <a:rPr sz="1000" spc="7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are</a:t>
            </a:r>
            <a:r>
              <a:rPr sz="1000" spc="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written</a:t>
            </a:r>
            <a:r>
              <a:rPr sz="1000" spc="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with</a:t>
            </a:r>
            <a:r>
              <a:rPr sz="1000" spc="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Jest</a:t>
            </a:r>
            <a:r>
              <a:rPr sz="1000" b="1" spc="7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(Angular</a:t>
            </a:r>
            <a:r>
              <a:rPr sz="1000" spc="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testing).</a:t>
            </a:r>
            <a:r>
              <a:rPr sz="1000" spc="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CI/CD</a:t>
            </a:r>
            <a:r>
              <a:rPr sz="1000" spc="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pipeline</a:t>
            </a:r>
            <a:r>
              <a:rPr sz="1000" spc="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runs</a:t>
            </a:r>
            <a:r>
              <a:rPr sz="1000" spc="7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all</a:t>
            </a:r>
            <a:r>
              <a:rPr sz="1000" spc="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tests</a:t>
            </a:r>
            <a:r>
              <a:rPr sz="1000" spc="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automatically</a:t>
            </a:r>
            <a:r>
              <a:rPr sz="1000" spc="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on</a:t>
            </a:r>
            <a:r>
              <a:rPr sz="1000" spc="7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every</a:t>
            </a:r>
            <a:r>
              <a:rPr sz="1000" spc="8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11826"/>
                </a:solidFill>
                <a:latin typeface="Arial MT"/>
                <a:cs typeface="Arial MT"/>
              </a:rPr>
              <a:t>push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via GitHub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Actions.</a:t>
            </a:r>
            <a:endParaRPr sz="10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17459" y="2415059"/>
          <a:ext cx="6121399" cy="482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4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2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4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39687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Service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Test </a:t>
                      </a:r>
                      <a:r>
                        <a:rPr sz="9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File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What Is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Tested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auth-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AuthServiceImplTest.java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49085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Register,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login,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JWT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generation,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password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change, user not found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scenarios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BookServiceImplTest.java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274320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Add book, get all, search, get by genre,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update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stock, delete,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featured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CartServiceImplTest.java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9334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Add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item,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remove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item,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update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quantity,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clear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cart,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 total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calculation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OrderServiceImplTest.java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223520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Place order, online payment, change status,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get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by user, delete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wallet-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WalletServiceImplTest.java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50355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Create wallet, add money, pay money,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get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statements, insufficient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balance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review-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ReviewServiceImplTest.java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350520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Add review, get by book, get by user,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update,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delete, avg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rating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notification-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NotificationServiceImplTest.java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115570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Send notification, mark as read, get unread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count, delete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wishlist-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WishlistServiceImplTest.java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255904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Add book, remove book, clear wishlist, move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to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cart, get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wishlist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Angular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(frontend)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0985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965200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auth.service.spec.ts, book.service.spec.ts,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cart-order-wallet.service.spec.ts, </a:t>
                      </a:r>
                      <a:r>
                        <a:rPr sz="900" spc="-2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etc.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4604" algn="ctr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HTTP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calls,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guards,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interceptors,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methods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10985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9999" y="868199"/>
            <a:ext cx="6120130" cy="533400"/>
          </a:xfrm>
          <a:custGeom>
            <a:avLst/>
            <a:gdLst/>
            <a:ahLst/>
            <a:cxnLst/>
            <a:rect l="l" t="t" r="r" b="b"/>
            <a:pathLst>
              <a:path w="6120130" h="533400">
                <a:moveTo>
                  <a:pt x="61200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533400"/>
                </a:lnTo>
                <a:lnTo>
                  <a:pt x="6120000" y="533400"/>
                </a:lnTo>
                <a:lnTo>
                  <a:pt x="6120000" y="0"/>
                </a:lnTo>
                <a:close/>
              </a:path>
            </a:pathLst>
          </a:custGeom>
          <a:solidFill>
            <a:srgbClr val="E957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0499" y="982499"/>
            <a:ext cx="34683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10.</a:t>
            </a:r>
            <a:r>
              <a:rPr sz="17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Non-Functional</a:t>
            </a:r>
            <a:r>
              <a:rPr sz="1700" b="1" spc="-10" dirty="0">
                <a:solidFill>
                  <a:srgbClr val="FFFFFF"/>
                </a:solidFill>
                <a:latin typeface="Arial"/>
                <a:cs typeface="Arial"/>
              </a:rPr>
              <a:t> Requirements</a:t>
            </a:r>
            <a:endParaRPr sz="17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17459" y="1526059"/>
          <a:ext cx="6120765" cy="449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4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Category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Requirement</a:t>
                      </a:r>
                      <a:r>
                        <a:rPr sz="95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&amp; How It</a:t>
                      </a:r>
                      <a:r>
                        <a:rPr sz="95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Is </a:t>
                      </a:r>
                      <a:r>
                        <a:rPr sz="95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Met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Performance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24701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Book search returns in &lt; 2 seconds for up to 10,000 concurrent users. MySQL indexes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on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title, author, genre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columns.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Scalability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28511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Each microservice can be scaled independently using Docker + Kubernetes. One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going down does not crash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others.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Security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16192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bcrypt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password hashing, JWT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with 24hr expiry, Spring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Security on all</a:t>
                      </a:r>
                      <a:r>
                        <a:rPr sz="900" spc="-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endpoints, HTTPS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production.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Availability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9334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99.9%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uptime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SLA.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Each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exposes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/actuator/health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endpoint.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Eureka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monitors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service heartbeats.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Data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Integrity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9334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ACID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transactions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wallet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payments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+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order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creation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—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if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one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fails,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other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rolls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back.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5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No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double-spend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possible.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Usability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Responsive Angular UI works on desktop and mobile. Thymeleaf fallback for MVC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views.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762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Auditability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587375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Every wallet transaction creates an immutable Statement record with type,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amount,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timestamp, remarks. Cannot be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deleted.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Maintainability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878840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Each service independently deployable. REST APIs versioned under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/api/v1/.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Swagger/OpenAPI docs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generated.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Code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Quality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 marR="447040">
                        <a:lnSpc>
                          <a:spcPct val="120400"/>
                        </a:lnSpc>
                        <a:spcBef>
                          <a:spcPts val="380"/>
                        </a:spcBef>
                      </a:pP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SonarQube integrated via GitHub Actions. sonar.yml runs on every PR to check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bugs, </a:t>
                      </a:r>
                      <a:r>
                        <a:rPr sz="90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vulnerabilities, code </a:t>
                      </a:r>
                      <a:r>
                        <a:rPr sz="900" spc="-10" dirty="0">
                          <a:solidFill>
                            <a:srgbClr val="111826"/>
                          </a:solidFill>
                          <a:latin typeface="Arial MT"/>
                          <a:cs typeface="Arial MT"/>
                        </a:rPr>
                        <a:t>smells.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9999" y="868199"/>
            <a:ext cx="6120130" cy="533400"/>
          </a:xfrm>
          <a:custGeom>
            <a:avLst/>
            <a:gdLst/>
            <a:ahLst/>
            <a:cxnLst/>
            <a:rect l="l" t="t" r="r" b="b"/>
            <a:pathLst>
              <a:path w="6120130" h="533400">
                <a:moveTo>
                  <a:pt x="61200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533400"/>
                </a:lnTo>
                <a:lnTo>
                  <a:pt x="6120000" y="533400"/>
                </a:lnTo>
                <a:lnTo>
                  <a:pt x="6120000" y="0"/>
                </a:lnTo>
                <a:close/>
              </a:path>
            </a:pathLst>
          </a:custGeom>
          <a:solidFill>
            <a:srgbClr val="1A3A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0499" y="982499"/>
            <a:ext cx="390080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11.</a:t>
            </a:r>
            <a:r>
              <a:rPr sz="17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Quick</a:t>
            </a:r>
            <a:r>
              <a:rPr sz="17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Summary</a:t>
            </a:r>
            <a:r>
              <a:rPr sz="17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17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sz="17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sz="17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Arial"/>
                <a:cs typeface="Arial"/>
              </a:rPr>
              <a:t>Built</a:t>
            </a:r>
            <a:endParaRPr sz="17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16824" y="1525424"/>
          <a:ext cx="6165215" cy="497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7556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What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3937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Details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Platform </a:t>
                      </a:r>
                      <a:r>
                        <a:rPr sz="1000" b="1" spc="-2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 marR="39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Full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Stack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E-Commerce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Bookstore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Backend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marR="39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Java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17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+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Spring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Boot 3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—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8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Microservices +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Eureka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Server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Frontend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 marR="39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Angular 17 SPA with</a:t>
                      </a:r>
                      <a:r>
                        <a:rPr sz="10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TypeScript — 20+</a:t>
                      </a:r>
                      <a:r>
                        <a:rPr sz="10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components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Database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marR="39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MySQL — 12</a:t>
                      </a:r>
                      <a:r>
                        <a:rPr sz="10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tables across</a:t>
                      </a:r>
                      <a:r>
                        <a:rPr sz="10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8 separate</a:t>
                      </a:r>
                      <a:r>
                        <a:rPr sz="10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schemas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2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Auth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 marR="39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JWT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+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BCrypt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+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GitHub OAuth2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+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OTP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Email Password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Reset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Payment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marR="39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Internal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E-Wallet + Razorpay real payment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gateway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Messaging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 marR="39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RabbitMQ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for async notifications (order + payment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events)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Notifications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marR="39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In-App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(bell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icon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badge)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+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Email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(HTML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templates)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Testing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 marR="39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JUnit5 +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Mockito (backend), Jest (frontend) — 8 test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suites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CI/CD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marR="39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GitHub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Actions + SonarQube code quality</a:t>
                      </a:r>
                      <a:r>
                        <a:rPr sz="10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analysis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Roles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 marR="39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Guest, Customer, Admin — each with different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permissions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Total </a:t>
                      </a:r>
                      <a:r>
                        <a:rPr sz="100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Microservices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9 (auth, book, cart, order, wallet, review, notification, wishlist,</a:t>
                      </a:r>
                      <a:r>
                        <a:rPr sz="10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bookne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b="1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Total API </a:t>
                      </a:r>
                      <a:r>
                        <a:rPr sz="1000" b="1" spc="-10" dirty="0">
                          <a:solidFill>
                            <a:srgbClr val="1A3A5B"/>
                          </a:solidFill>
                          <a:latin typeface="Arial"/>
                          <a:cs typeface="Arial"/>
                        </a:rPr>
                        <a:t>Endpoints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 marR="3937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50+ REST endpoints across all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services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CAD4E1"/>
                      </a:solidFill>
                      <a:prstDash val="solid"/>
                    </a:lnL>
                    <a:lnR w="6350">
                      <a:solidFill>
                        <a:srgbClr val="CAD4E1"/>
                      </a:solidFill>
                      <a:prstDash val="solid"/>
                    </a:lnR>
                    <a:lnT w="6350">
                      <a:solidFill>
                        <a:srgbClr val="CAD4E1"/>
                      </a:solidFill>
                      <a:prstDash val="solid"/>
                    </a:lnT>
                    <a:lnB w="6350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869990" y="5884699"/>
            <a:ext cx="441959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st-</a:t>
            </a:r>
            <a:r>
              <a:rPr sz="1000" spc="-20" dirty="0">
                <a:latin typeface="Arial MT"/>
                <a:cs typeface="Arial MT"/>
              </a:rPr>
              <a:t>web)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9999" y="6684799"/>
            <a:ext cx="6120130" cy="1016000"/>
          </a:xfrm>
          <a:prstGeom prst="rect">
            <a:avLst/>
          </a:prstGeom>
          <a:solidFill>
            <a:srgbClr val="DBFBE6"/>
          </a:solidFill>
          <a:ln w="19050">
            <a:solidFill>
              <a:srgbClr val="16A349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52400" marR="143510" algn="just">
              <a:lnSpc>
                <a:spcPct val="133300"/>
              </a:lnSpc>
              <a:spcBef>
                <a:spcPts val="400"/>
              </a:spcBef>
            </a:pP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Sprint</a:t>
            </a:r>
            <a:r>
              <a:rPr sz="1000" b="1" spc="20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Review</a:t>
            </a:r>
            <a:r>
              <a:rPr sz="1000" b="1" spc="2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11826"/>
                </a:solidFill>
                <a:latin typeface="Arial"/>
                <a:cs typeface="Arial"/>
              </a:rPr>
              <a:t>Note:</a:t>
            </a:r>
            <a:r>
              <a:rPr sz="1000" b="1" spc="25" dirty="0">
                <a:solidFill>
                  <a:srgbClr val="11182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This</a:t>
            </a:r>
            <a:r>
              <a:rPr sz="1000" spc="2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document</a:t>
            </a:r>
            <a:r>
              <a:rPr sz="1000" spc="2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covers</a:t>
            </a:r>
            <a:r>
              <a:rPr sz="1000" spc="2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the</a:t>
            </a:r>
            <a:r>
              <a:rPr sz="1000" spc="2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complete</a:t>
            </a:r>
            <a:r>
              <a:rPr sz="1000" spc="2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BookNest</a:t>
            </a:r>
            <a:r>
              <a:rPr sz="1000" spc="2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platform</a:t>
            </a:r>
            <a:r>
              <a:rPr sz="1000" spc="2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—</a:t>
            </a:r>
            <a:r>
              <a:rPr sz="1000" spc="2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architecture,</a:t>
            </a:r>
            <a:r>
              <a:rPr sz="1000" spc="2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database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design,</a:t>
            </a:r>
            <a:r>
              <a:rPr sz="1000" spc="32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all</a:t>
            </a:r>
            <a:r>
              <a:rPr sz="1000" spc="32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microservices,</a:t>
            </a:r>
            <a:r>
              <a:rPr sz="1000" spc="32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request</a:t>
            </a:r>
            <a:r>
              <a:rPr sz="1000" spc="32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flows,</a:t>
            </a:r>
            <a:r>
              <a:rPr sz="1000" spc="32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security,</a:t>
            </a:r>
            <a:r>
              <a:rPr sz="1000" spc="32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testing,</a:t>
            </a:r>
            <a:r>
              <a:rPr sz="1000" spc="32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and</a:t>
            </a:r>
            <a:r>
              <a:rPr sz="1000" spc="32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non-functional</a:t>
            </a:r>
            <a:r>
              <a:rPr sz="1000" spc="32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requirements.</a:t>
            </a:r>
            <a:r>
              <a:rPr sz="1000" spc="32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All</a:t>
            </a:r>
            <a:r>
              <a:rPr sz="1000" spc="32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11826"/>
                </a:solidFill>
                <a:latin typeface="Arial MT"/>
                <a:cs typeface="Arial MT"/>
              </a:rPr>
              <a:t>9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services</a:t>
            </a:r>
            <a:r>
              <a:rPr sz="1000" spc="15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are</a:t>
            </a:r>
            <a:r>
              <a:rPr sz="1000" spc="15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fully</a:t>
            </a:r>
            <a:r>
              <a:rPr sz="1000" spc="15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implemented</a:t>
            </a:r>
            <a:r>
              <a:rPr sz="1000" spc="15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and</a:t>
            </a:r>
            <a:r>
              <a:rPr sz="1000" spc="15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independently</a:t>
            </a:r>
            <a:r>
              <a:rPr sz="1000" spc="160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deployable.</a:t>
            </a:r>
            <a:r>
              <a:rPr sz="1000" spc="15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The</a:t>
            </a:r>
            <a:r>
              <a:rPr sz="1000" spc="15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platform</a:t>
            </a:r>
            <a:r>
              <a:rPr sz="1000" spc="15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is</a:t>
            </a:r>
            <a:r>
              <a:rPr sz="1000" spc="15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production-ready</a:t>
            </a:r>
            <a:r>
              <a:rPr sz="1000" spc="15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11826"/>
                </a:solidFill>
                <a:latin typeface="Arial MT"/>
                <a:cs typeface="Arial MT"/>
              </a:rPr>
              <a:t>with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CI/CD, SonarQube quality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gates, and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11826"/>
                </a:solidFill>
                <a:latin typeface="Arial MT"/>
                <a:cs typeface="Arial MT"/>
              </a:rPr>
              <a:t>comprehensive test</a:t>
            </a:r>
            <a:r>
              <a:rPr sz="1000" spc="5" dirty="0">
                <a:solidFill>
                  <a:srgbClr val="111826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11826"/>
                </a:solidFill>
                <a:latin typeface="Arial MT"/>
                <a:cs typeface="Arial MT"/>
              </a:rPr>
              <a:t>coverage.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6199" y="7929399"/>
            <a:ext cx="5967730" cy="0"/>
          </a:xfrm>
          <a:custGeom>
            <a:avLst/>
            <a:gdLst/>
            <a:ahLst/>
            <a:cxnLst/>
            <a:rect l="l" t="t" r="r" b="b"/>
            <a:pathLst>
              <a:path w="5967730">
                <a:moveTo>
                  <a:pt x="0" y="0"/>
                </a:moveTo>
                <a:lnTo>
                  <a:pt x="5967600" y="0"/>
                </a:lnTo>
              </a:path>
            </a:pathLst>
          </a:custGeom>
          <a:ln w="12700">
            <a:solidFill>
              <a:srgbClr val="1A3A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62408" y="8005599"/>
            <a:ext cx="42354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B7280"/>
                </a:solidFill>
                <a:latin typeface="Arial MT"/>
                <a:cs typeface="Arial MT"/>
              </a:rPr>
              <a:t>BookNest</a:t>
            </a:r>
            <a:r>
              <a:rPr sz="900" spc="-5" dirty="0">
                <a:solidFill>
                  <a:srgbClr val="6B7280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B7280"/>
                </a:solidFill>
                <a:latin typeface="Arial MT"/>
                <a:cs typeface="Arial MT"/>
              </a:rPr>
              <a:t>Platform | Sprint</a:t>
            </a:r>
            <a:r>
              <a:rPr sz="900" spc="-5" dirty="0">
                <a:solidFill>
                  <a:srgbClr val="6B7280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B7280"/>
                </a:solidFill>
                <a:latin typeface="Arial MT"/>
                <a:cs typeface="Arial MT"/>
              </a:rPr>
              <a:t>Review Document |</a:t>
            </a:r>
            <a:r>
              <a:rPr sz="900" spc="-5" dirty="0">
                <a:solidFill>
                  <a:srgbClr val="6B7280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B7280"/>
                </a:solidFill>
                <a:latin typeface="Arial MT"/>
                <a:cs typeface="Arial MT"/>
              </a:rPr>
              <a:t>Capgemini | Version 1.0</a:t>
            </a:r>
            <a:r>
              <a:rPr sz="900" spc="-5" dirty="0">
                <a:solidFill>
                  <a:srgbClr val="6B7280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B7280"/>
                </a:solidFill>
                <a:latin typeface="Arial MT"/>
                <a:cs typeface="Arial MT"/>
              </a:rPr>
              <a:t>| May </a:t>
            </a:r>
            <a:r>
              <a:rPr sz="900" spc="-20" dirty="0">
                <a:solidFill>
                  <a:srgbClr val="6B7280"/>
                </a:solidFill>
                <a:latin typeface="Arial MT"/>
                <a:cs typeface="Arial MT"/>
              </a:rPr>
              <a:t>2026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1182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5115</Words>
  <Application>Microsoft Office PowerPoint</Application>
  <PresentationFormat>Custom</PresentationFormat>
  <Paragraphs>969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Arial MT</vt:lpstr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(anonymous)</dc:title>
  <dc:subject>(unspecified)</dc:subject>
  <dc:creator>(anonymous)</dc:creator>
  <cp:lastModifiedBy>Manthan Rawat</cp:lastModifiedBy>
  <cp:revision>1</cp:revision>
  <dcterms:created xsi:type="dcterms:W3CDTF">2026-05-17T10:03:00Z</dcterms:created>
  <dcterms:modified xsi:type="dcterms:W3CDTF">2026-05-17T10:06:46Z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2026-05-17T00:00:00Z</vt:filetime>
  </property>
  <property fmtid="{D5CDD505-2E9C-101B-9397-08002B2CF9AE}" pid="3" name="Creator">
    <vt:lpwstr>(unspecified)</vt:lpwstr>
  </property>
  <property fmtid="{D5CDD505-2E9C-101B-9397-08002B2CF9AE}" pid="4" name="LastSaved">
    <vt:filetime>2026-05-17T00:00:00Z</vt:filetime>
  </property>
  <property fmtid="{D5CDD505-2E9C-101B-9397-08002B2CF9AE}" pid="5" name="Producer">
    <vt:lpwstr>ReportLab PDF Library - (opensource)</vt:lpwstr>
  </property>
</Properties>
</file>